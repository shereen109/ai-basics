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sz="5400" b="1" u="sng" dirty="0">
                <a:latin typeface="Berlin Sans FB Demi" panose="020E0802020502020306" charset="0"/>
                <a:cs typeface="Berlin Sans FB Demi" panose="020E0802020502020306" charset="0"/>
              </a:rPr>
              <a:t>Automation and Scripting with Python</a:t>
            </a:r>
            <a:endParaRPr lang="en-US" altLang="en-US" sz="5400" b="1" u="sng" dirty="0">
              <a:latin typeface="Berlin Sans FB Demi" panose="020E0802020502020306" charset="0"/>
              <a:cs typeface="Berlin Sans FB Demi" panose="020E0802020502020306" charset="0"/>
            </a:endParaRPr>
          </a:p>
        </p:txBody>
      </p:sp>
      <p:sp>
        <p:nvSpPr>
          <p:cNvPr id="3" name="Subtitle 2"/>
          <p:cNvSpPr>
            <a:spLocks noGrp="1"/>
          </p:cNvSpPr>
          <p:nvPr>
            <p:ph type="subTitle" idx="1"/>
          </p:nvPr>
        </p:nvSpPr>
        <p:spPr>
          <a:xfrm>
            <a:off x="1524000" y="3968433"/>
            <a:ext cx="9144000" cy="1655762"/>
          </a:xfrm>
        </p:spPr>
        <p:txBody>
          <a:bodyPr/>
          <a:lstStyle/>
          <a:p>
            <a:r>
              <a:rPr lang="en-US" altLang="en-US" b="1" u="sng">
                <a:latin typeface="Berlin Sans FB Demi" panose="020E0802020502020306" charset="0"/>
                <a:cs typeface="Berlin Sans FB Demi" panose="020E0802020502020306" charset="0"/>
              </a:rPr>
              <a:t>Lecture 10</a:t>
            </a:r>
            <a:endParaRPr lang="en-US" altLang="en-US" b="1" u="sng">
              <a:latin typeface="Berlin Sans FB Demi" panose="020E0802020502020306" charset="0"/>
              <a:cs typeface="Berlin Sans FB Demi" panose="020E080202050202030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sym typeface="+mn-ea"/>
              </a:rPr>
              <a:t>1. Introduction</a:t>
            </a:r>
            <a:endParaRPr lang="en-US" b="1" u="sng"/>
          </a:p>
        </p:txBody>
      </p:sp>
      <p:sp>
        <p:nvSpPr>
          <p:cNvPr id="3" name="Content Placeholder 2"/>
          <p:cNvSpPr>
            <a:spLocks noGrp="1"/>
          </p:cNvSpPr>
          <p:nvPr>
            <p:ph idx="1"/>
          </p:nvPr>
        </p:nvSpPr>
        <p:spPr/>
        <p:txBody>
          <a:bodyPr/>
          <a:p>
            <a:pPr marL="0" indent="0">
              <a:buNone/>
            </a:pPr>
            <a:endParaRPr lang="en-US" altLang="en-US" b="1"/>
          </a:p>
          <a:p>
            <a:r>
              <a:rPr lang="en-US" altLang="en-US" b="1"/>
              <a:t>Automation and scripting are essential concepts in the modern world. They help in reducing repetitive tasks, minimizing human errors, and increasing efficiency in various fields like IT, business, and personal productivity.</a:t>
            </a:r>
            <a:endParaRPr lang="en-US"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latin typeface="Berlin Sans FB Demi" panose="020E0802020502020306" charset="0"/>
                <a:cs typeface="Berlin Sans FB Demi" panose="020E0802020502020306" charset="0"/>
                <a:sym typeface="+mn-ea"/>
              </a:rPr>
              <a:t>Why Use Python for Automation?</a:t>
            </a:r>
            <a:endParaRPr lang="en-US" b="1" u="sng">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p:txBody>
          <a:bodyPr>
            <a:normAutofit fontScale="90000"/>
          </a:bodyPr>
          <a:p>
            <a:pPr>
              <a:buFont typeface="Wingdings" panose="05000000000000000000" charset="0"/>
              <a:buChar char="Ø"/>
            </a:pPr>
            <a:endParaRPr lang="en-US" altLang="en-US"/>
          </a:p>
          <a:p>
            <a:pPr>
              <a:buFont typeface="Wingdings" panose="05000000000000000000" charset="0"/>
              <a:buChar char="Ø"/>
            </a:pPr>
            <a:r>
              <a:rPr lang="en-US" altLang="en-US"/>
              <a:t>Easy to Learn: Python has a simple syntax that makes it beginner-friendly.</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Cross-Platform: Works on Windows, Mac, and Linux.</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Rich Libraries: Includes powerful libraries like os, shutil, smtplib, and pandas.</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Wide Applications: Used in web automation, data analysis, task scheduling, and more.</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253490"/>
            <a:ext cx="10515600" cy="4351338"/>
          </a:xfrm>
        </p:spPr>
        <p:txBody>
          <a:bodyPr>
            <a:normAutofit lnSpcReduction="10000"/>
          </a:bodyPr>
          <a:p>
            <a:pPr>
              <a:buFont typeface="Wingdings" panose="05000000000000000000" charset="0"/>
              <a:buChar char="Ø"/>
            </a:pPr>
            <a:r>
              <a:rPr lang="en-US" altLang="en-US"/>
              <a:t>Automation with Python allows users to handle tasks such as:</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File management (renaming, moving, deleting files automatically).</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Email automation (sending reports, alerts, and notifications).</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Web scraping (extracting useful information from websites).</a:t>
            </a:r>
            <a:endParaRPr lang="en-US" altLang="en-US"/>
          </a:p>
          <a:p>
            <a:pPr>
              <a:buFont typeface="Wingdings" panose="05000000000000000000" charset="0"/>
              <a:buChar char="Ø"/>
            </a:pPr>
            <a:endParaRPr lang="en-US" altLang="en-US"/>
          </a:p>
          <a:p>
            <a:pPr>
              <a:buFont typeface="Wingdings" panose="05000000000000000000" charset="0"/>
              <a:buChar char="Ø"/>
            </a:pPr>
            <a:r>
              <a:rPr lang="en-US" altLang="en-US"/>
              <a:t>Task scheduling (running scripts at specific times).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latin typeface="Berlin Sans FB Demi" panose="020E0802020502020306" charset="0"/>
                <a:cs typeface="Berlin Sans FB Demi" panose="020E0802020502020306" charset="0"/>
              </a:rPr>
              <a:t>2_Practical Examples with Python Code</a:t>
            </a:r>
            <a:endParaRPr lang="en-US" altLang="en-US" b="1" u="sng">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p:txBody>
          <a:bodyPr>
            <a:normAutofit fontScale="80000"/>
          </a:bodyPr>
          <a:p>
            <a:pPr>
              <a:buFont typeface="Wingdings" panose="05000000000000000000" charset="0"/>
              <a:buChar char="Ø"/>
            </a:pPr>
            <a:r>
              <a:rPr lang="en-US" altLang="en-US" sz="2400" b="1">
                <a:solidFill>
                  <a:srgbClr val="FF0000"/>
                </a:solidFill>
                <a:latin typeface="Berlin Sans FB Demi" panose="020E0802020502020306" charset="0"/>
                <a:cs typeface="Berlin Sans FB Demi" panose="020E0802020502020306" charset="0"/>
              </a:rPr>
              <a:t>1_ Automatically Renaming Multiple Files</a:t>
            </a:r>
            <a:endParaRPr lang="en-US" altLang="en-US" sz="2400" b="1">
              <a:solidFill>
                <a:srgbClr val="FF0000"/>
              </a:solidFill>
              <a:latin typeface="Berlin Sans FB Demi" panose="020E0802020502020306" charset="0"/>
              <a:cs typeface="Berlin Sans FB Demi" panose="020E0802020502020306" charset="0"/>
            </a:endParaRPr>
          </a:p>
          <a:p>
            <a:pPr>
              <a:buFont typeface="Wingdings" panose="05000000000000000000" charset="0"/>
              <a:buChar char="Ø"/>
            </a:pPr>
            <a:r>
              <a:rPr lang="en-US" altLang="en-US" sz="2400"/>
              <a:t> Benefit: Saves time when managing large sets of files.</a:t>
            </a:r>
            <a:endParaRPr lang="en-US" altLang="en-US" sz="2400"/>
          </a:p>
          <a:p>
            <a:pPr>
              <a:buFont typeface="Wingdings" panose="05000000000000000000" charset="0"/>
              <a:buChar char="Ø"/>
            </a:pPr>
            <a:r>
              <a:rPr lang="en-US" altLang="en-US" sz="2400" b="1" u="sng">
                <a:solidFill>
                  <a:srgbClr val="FF0000"/>
                </a:solidFill>
                <a:latin typeface="Berlin Sans FB Demi" panose="020E0802020502020306" charset="0"/>
                <a:cs typeface="Berlin Sans FB Demi" panose="020E0802020502020306" charset="0"/>
              </a:rPr>
              <a:t>✅ Code:</a:t>
            </a:r>
            <a:endParaRPr lang="en-US" altLang="en-US" sz="2400" b="1" u="sng">
              <a:solidFill>
                <a:srgbClr val="FF0000"/>
              </a:solidFill>
              <a:latin typeface="Berlin Sans FB Demi" panose="020E0802020502020306" charset="0"/>
              <a:cs typeface="Berlin Sans FB Demi" panose="020E0802020502020306" charset="0"/>
            </a:endParaRPr>
          </a:p>
          <a:p>
            <a:pPr marL="0" indent="0">
              <a:buNone/>
            </a:pPr>
            <a:r>
              <a:rPr lang="en-US" altLang="en-US" sz="2400"/>
              <a:t>import os</a:t>
            </a:r>
            <a:endParaRPr lang="en-US" altLang="en-US" sz="2400"/>
          </a:p>
          <a:p>
            <a:pPr marL="0" indent="0">
              <a:buNone/>
            </a:pPr>
            <a:r>
              <a:rPr lang="en-US" altLang="en-US" sz="2400"/>
              <a:t>folder_path = "./files"  # Specify the folder path</a:t>
            </a:r>
            <a:endParaRPr lang="en-US" altLang="en-US" sz="2400"/>
          </a:p>
          <a:p>
            <a:pPr marL="0" indent="0">
              <a:buNone/>
            </a:pPr>
            <a:r>
              <a:rPr lang="en-US" altLang="en-US" sz="2400"/>
              <a:t>for count, filename in enumerate(os.listdir(folder_path)):</a:t>
            </a:r>
            <a:endParaRPr lang="en-US" altLang="en-US" sz="2400"/>
          </a:p>
          <a:p>
            <a:pPr marL="0" indent="0">
              <a:buNone/>
            </a:pPr>
            <a:r>
              <a:rPr lang="en-US" altLang="en-US" sz="2400"/>
              <a:t>    new_name = f"file_{count}.txt"  # Renaming files systematically</a:t>
            </a:r>
            <a:endParaRPr lang="en-US" altLang="en-US" sz="2400"/>
          </a:p>
          <a:p>
            <a:pPr marL="0" indent="0">
              <a:buNone/>
            </a:pPr>
            <a:r>
              <a:rPr lang="en-US" altLang="en-US" sz="2400"/>
              <a:t>    old_path = os.path.join(folder_path, filename)</a:t>
            </a:r>
            <a:endParaRPr lang="en-US" altLang="en-US" sz="2400"/>
          </a:p>
          <a:p>
            <a:pPr marL="0" indent="0">
              <a:buNone/>
            </a:pPr>
            <a:r>
              <a:rPr lang="en-US" altLang="en-US" sz="2400"/>
              <a:t>    new_path = os.path.join(folder_path, new_name)</a:t>
            </a:r>
            <a:endParaRPr lang="en-US" altLang="en-US" sz="2400"/>
          </a:p>
          <a:p>
            <a:pPr marL="0" indent="0">
              <a:buNone/>
            </a:pPr>
            <a:r>
              <a:rPr lang="en-US" altLang="en-US" sz="2400"/>
              <a:t>    os.rename(old_path, new_path)</a:t>
            </a:r>
            <a:endParaRPr lang="en-US" altLang="en-US" sz="2400"/>
          </a:p>
          <a:p>
            <a:pPr marL="0" indent="0">
              <a:buNone/>
            </a:pPr>
            <a:r>
              <a:rPr lang="en-US" altLang="en-US" sz="2400"/>
              <a:t>print("All files have been renamed successfully!")</a:t>
            </a: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lang="ar-EG" altLang="en-US" sz="3200" b="1" u="sng"/>
              <a:t>2</a:t>
            </a:r>
            <a:r>
              <a:rPr lang="en-US" altLang="en-US" sz="3200" b="1" u="sng"/>
              <a:t>_This script helps organize images in a specific directory by moving them into a separate folder named "Images".</a:t>
            </a:r>
            <a:endParaRPr lang="en-US" altLang="en-US" sz="3200" b="1" u="sng"/>
          </a:p>
        </p:txBody>
      </p:sp>
      <p:sp>
        <p:nvSpPr>
          <p:cNvPr id="3" name="Content Placeholder 2"/>
          <p:cNvSpPr>
            <a:spLocks noGrp="1"/>
          </p:cNvSpPr>
          <p:nvPr>
            <p:ph idx="1"/>
          </p:nvPr>
        </p:nvSpPr>
        <p:spPr>
          <a:xfrm>
            <a:off x="530860" y="1825625"/>
            <a:ext cx="10822940" cy="4351655"/>
          </a:xfrm>
        </p:spPr>
        <p:txBody>
          <a:bodyPr>
            <a:noAutofit/>
          </a:bodyPr>
          <a:p>
            <a:pPr marL="0" indent="0">
              <a:buNone/>
            </a:pPr>
            <a:r>
              <a:rPr lang="en-US" altLang="en-US" sz="1800">
                <a:solidFill>
                  <a:srgbClr val="FF0000"/>
                </a:solidFill>
              </a:rPr>
              <a:t>impor</a:t>
            </a:r>
            <a:r>
              <a:rPr lang="en-US" altLang="en-US" sz="1800"/>
              <a:t>t os</a:t>
            </a:r>
            <a:endParaRPr lang="en-US" altLang="en-US" sz="1800"/>
          </a:p>
          <a:p>
            <a:pPr marL="0" indent="0">
              <a:buNone/>
            </a:pPr>
            <a:r>
              <a:rPr lang="en-US" altLang="en-US" sz="1800">
                <a:solidFill>
                  <a:srgbClr val="FF0000"/>
                </a:solidFill>
              </a:rPr>
              <a:t>import</a:t>
            </a:r>
            <a:r>
              <a:rPr lang="en-US" altLang="en-US" sz="1800"/>
              <a:t> shutil</a:t>
            </a:r>
            <a:endParaRPr lang="en-US" altLang="en-US" sz="1800"/>
          </a:p>
          <a:p>
            <a:pPr marL="0" indent="0">
              <a:buNone/>
            </a:pPr>
            <a:r>
              <a:rPr lang="en-US" altLang="en-US" sz="1800"/>
              <a:t># Get the current directory</a:t>
            </a:r>
            <a:endParaRPr lang="en-US" altLang="en-US" sz="1800"/>
          </a:p>
          <a:p>
            <a:pPr marL="0" indent="0">
              <a:buNone/>
            </a:pPr>
            <a:r>
              <a:rPr lang="en-US" altLang="en-US" sz="1800"/>
              <a:t>current_dir = os.path.dirname(os.path.realpath(__file__))</a:t>
            </a:r>
            <a:endParaRPr lang="en-US" altLang="en-US" sz="1800"/>
          </a:p>
          <a:p>
            <a:pPr marL="0" indent="0">
              <a:buNone/>
            </a:pPr>
            <a:r>
              <a:rPr lang="en-US" altLang="en-US" sz="1800"/>
              <a:t># Loop through all files in the directory</a:t>
            </a:r>
            <a:endParaRPr lang="en-US" altLang="en-US" sz="1800"/>
          </a:p>
          <a:p>
            <a:pPr marL="0" indent="0">
              <a:buNone/>
            </a:pPr>
            <a:r>
              <a:rPr lang="en-US" altLang="en-US" sz="1800"/>
              <a:t>for filename in os.listdir(current_dir):</a:t>
            </a:r>
            <a:endParaRPr lang="en-US" altLang="en-US" sz="1800"/>
          </a:p>
          <a:p>
            <a:pPr marL="0" indent="0">
              <a:buNone/>
            </a:pPr>
            <a:r>
              <a:rPr lang="en-US" altLang="en-US" sz="1800"/>
              <a:t>    ## Organize images into the "Images" folder</a:t>
            </a:r>
            <a:endParaRPr lang="en-US" altLang="en-US" sz="1800"/>
          </a:p>
          <a:p>
            <a:pPr marL="0" indent="0">
              <a:buNone/>
            </a:pPr>
            <a:r>
              <a:rPr lang="en-US" altLang="en-US" sz="1800"/>
              <a:t>    if filename.endswith((".png", ".jpg")):    # Check if the file is an image</a:t>
            </a:r>
            <a:endParaRPr lang="en-US" altLang="en-US" sz="1800"/>
          </a:p>
          <a:p>
            <a:pPr marL="0" indent="0">
              <a:buNone/>
            </a:pPr>
            <a:r>
              <a:rPr lang="en-US" altLang="en-US" sz="1800"/>
              <a:t>        if not os.path.exists("Images"):    # Check if the "Images" folder exists</a:t>
            </a:r>
            <a:endParaRPr lang="en-US" altLang="en-US" sz="1800"/>
          </a:p>
          <a:p>
            <a:pPr marL="0" indent="0">
              <a:buNone/>
            </a:pPr>
            <a:r>
              <a:rPr lang="en-US" altLang="en-US" sz="1800"/>
              <a:t>            os.mkdir("Images")       # Create "Images" folder if it doesn't exist</a:t>
            </a:r>
            <a:endParaRPr lang="en-US" altLang="en-US" sz="1800"/>
          </a:p>
          <a:p>
            <a:pPr marL="0" indent="0">
              <a:buNone/>
            </a:pPr>
            <a:r>
              <a:rPr lang="en-US" altLang="en-US" sz="1800"/>
              <a:t>        shutil.copy(filename, "Images")     # Copy image to the "Images" folder</a:t>
            </a:r>
            <a:endParaRPr lang="en-US" altLang="en-US" sz="1800"/>
          </a:p>
          <a:p>
            <a:pPr marL="0" indent="0">
              <a:buNone/>
            </a:pPr>
            <a:r>
              <a:rPr lang="en-US" altLang="en-US" sz="1800"/>
              <a:t>        os.remove(filename)        # Delete the original file</a:t>
            </a:r>
            <a:endParaRPr lang="en-US" altLang="en-US" sz="1800"/>
          </a:p>
          <a:p>
            <a:pPr marL="0" indent="0">
              <a:buNone/>
            </a:pPr>
            <a:r>
              <a:rPr lang="en-US" altLang="en-US" sz="1800"/>
              <a:t>        print("Done")</a:t>
            </a:r>
            <a:endParaRPr lang="en-US" altLang="en-US" sz="1800"/>
          </a:p>
          <a:p>
            <a:pPr marL="0" indent="0">
              <a:buNone/>
            </a:pP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marL="571500" indent="-571500">
              <a:buFont typeface="Wingdings" panose="05000000000000000000" charset="0"/>
              <a:buChar char="Ø"/>
            </a:pPr>
            <a:r>
              <a:rPr lang="en-US" altLang="en-US" b="1" u="sng">
                <a:sym typeface="+mn-ea"/>
              </a:rPr>
              <a:t>When Can This Code Be Used?</a:t>
            </a:r>
            <a:endParaRPr lang="en-US" b="1" u="sng"/>
          </a:p>
        </p:txBody>
      </p:sp>
      <p:sp>
        <p:nvSpPr>
          <p:cNvPr id="3" name="Content Placeholder 2"/>
          <p:cNvSpPr>
            <a:spLocks noGrp="1"/>
          </p:cNvSpPr>
          <p:nvPr>
            <p:ph idx="1"/>
          </p:nvPr>
        </p:nvSpPr>
        <p:spPr/>
        <p:txBody>
          <a:bodyPr/>
          <a:p>
            <a:pPr>
              <a:buFont typeface="Wingdings" panose="05000000000000000000" charset="0"/>
              <a:buChar char="Ø"/>
            </a:pPr>
            <a:endParaRPr lang="en-US" altLang="en-US"/>
          </a:p>
          <a:p>
            <a:pPr>
              <a:buFont typeface="Wingdings" panose="05000000000000000000" charset="0"/>
              <a:buChar char="Ø"/>
            </a:pPr>
            <a:r>
              <a:rPr lang="en-US" altLang="en-US"/>
              <a:t>When working with a directory full of images and you want to organize them automatically.</a:t>
            </a:r>
            <a:endParaRPr lang="en-US" altLang="en-US"/>
          </a:p>
          <a:p>
            <a:pPr>
              <a:buFont typeface="Wingdings" panose="05000000000000000000" charset="0"/>
              <a:buChar char="Ø"/>
            </a:pPr>
            <a:r>
              <a:rPr lang="en-US" altLang="en-US"/>
              <a:t> When sorting different types of files into separate folders (you can modify this script to sort PDFs, videos, etc.).</a:t>
            </a:r>
            <a:endParaRPr lang="en-US" altLang="en-US"/>
          </a:p>
          <a:p>
            <a:pPr>
              <a:buFont typeface="Wingdings" panose="05000000000000000000" charset="0"/>
              <a:buChar char="Ø"/>
            </a:pPr>
            <a:r>
              <a:rPr lang="en-US" altLang="en-US"/>
              <a:t> To save time and effort instead of manually organizing files.</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u="sng">
                <a:latin typeface="Berlin Sans FB Demi" panose="020E0802020502020306" charset="0"/>
                <a:cs typeface="Berlin Sans FB Demi" panose="020E0802020502020306" charset="0"/>
              </a:rPr>
              <a:t>To automate sending a WhatsApp message every morning using Python, follow these steps:</a:t>
            </a:r>
            <a:endParaRPr lang="en-US" altLang="en-US" sz="3200" b="1" u="sng">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p:txBody>
          <a:bodyPr/>
          <a:p>
            <a:r>
              <a:rPr lang="en-US" altLang="en-US" u="sng">
                <a:solidFill>
                  <a:srgbClr val="FF0000"/>
                </a:solidFill>
                <a:latin typeface="Berlin Sans FB Demi" panose="020E0802020502020306" charset="0"/>
                <a:cs typeface="Berlin Sans FB Demi" panose="020E0802020502020306" charset="0"/>
              </a:rPr>
              <a:t>1. Install Required Library</a:t>
            </a:r>
            <a:endParaRPr lang="en-US" altLang="en-US" u="sng">
              <a:solidFill>
                <a:srgbClr val="FF0000"/>
              </a:solidFill>
              <a:latin typeface="Berlin Sans FB Demi" panose="020E0802020502020306" charset="0"/>
              <a:cs typeface="Berlin Sans FB Demi" panose="020E0802020502020306" charset="0"/>
            </a:endParaRPr>
          </a:p>
          <a:p>
            <a:endParaRPr lang="en-US" altLang="en-US"/>
          </a:p>
          <a:p>
            <a:pPr>
              <a:buFont typeface="Wingdings" panose="05000000000000000000" charset="0"/>
              <a:buChar char="Ø"/>
            </a:pPr>
            <a:r>
              <a:rPr lang="en-US" altLang="en-US"/>
              <a:t>You can use the pywhatkit library to send WhatsApp messages. Install it using:</a:t>
            </a:r>
            <a:endParaRPr lang="en-US" altLang="en-US"/>
          </a:p>
          <a:p>
            <a:endParaRPr lang="en-US" altLang="en-US"/>
          </a:p>
          <a:p>
            <a:r>
              <a:rPr lang="en-US" altLang="en-US">
                <a:solidFill>
                  <a:srgbClr val="FF0000"/>
                </a:solidFill>
              </a:rPr>
              <a:t>pip install pywhatkit</a:t>
            </a:r>
            <a:endParaRPr lang="en-US" altLang="en-US">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solidFill>
                  <a:srgbClr val="FF0000"/>
                </a:solidFill>
                <a:latin typeface="Berlin Sans FB Demi" panose="020E0802020502020306" charset="0"/>
                <a:cs typeface="Berlin Sans FB Demi" panose="020E0802020502020306" charset="0"/>
                <a:sym typeface="+mn-ea"/>
              </a:rPr>
              <a:t>2. Write the Python Script</a:t>
            </a:r>
            <a:endParaRPr lang="en-US" altLang="en-US" b="1" u="sng">
              <a:solidFill>
                <a:srgbClr val="FF0000"/>
              </a:solidFill>
              <a:latin typeface="Berlin Sans FB Demi" panose="020E0802020502020306" charset="0"/>
              <a:cs typeface="Berlin Sans FB Demi" panose="020E0802020502020306" charset="0"/>
              <a:sym typeface="+mn-ea"/>
            </a:endParaRPr>
          </a:p>
        </p:txBody>
      </p:sp>
      <p:sp>
        <p:nvSpPr>
          <p:cNvPr id="3" name="Content Placeholder 2"/>
          <p:cNvSpPr>
            <a:spLocks noGrp="1"/>
          </p:cNvSpPr>
          <p:nvPr>
            <p:ph idx="1"/>
          </p:nvPr>
        </p:nvSpPr>
        <p:spPr>
          <a:xfrm>
            <a:off x="838200" y="1825625"/>
            <a:ext cx="10515600" cy="4351338"/>
          </a:xfrm>
        </p:spPr>
        <p:txBody>
          <a:bodyPr>
            <a:normAutofit fontScale="50000"/>
          </a:bodyPr>
          <a:p>
            <a:endParaRPr lang="en-US" altLang="en-US"/>
          </a:p>
          <a:p>
            <a:pPr>
              <a:buFont typeface="Wingdings" panose="05000000000000000000" charset="0"/>
              <a:buChar char="Ø"/>
            </a:pPr>
            <a:r>
              <a:rPr lang="en-US" altLang="en-US" sz="4800" b="1" u="sng"/>
              <a:t>This script will send a message to a specific number at 8:00 AM every day.</a:t>
            </a:r>
            <a:endParaRPr lang="en-US" altLang="en-US" sz="4800" b="1" u="sng"/>
          </a:p>
          <a:p>
            <a:pPr marL="0" indent="0">
              <a:buNone/>
            </a:pPr>
            <a:endParaRPr lang="en-US" altLang="en-US"/>
          </a:p>
          <a:p>
            <a:pPr marL="0" indent="0">
              <a:buNone/>
            </a:pPr>
            <a:r>
              <a:rPr lang="en-US" altLang="en-US" sz="4000">
                <a:solidFill>
                  <a:srgbClr val="FF0000"/>
                </a:solidFill>
              </a:rPr>
              <a:t>import</a:t>
            </a:r>
            <a:r>
              <a:rPr lang="en-US" altLang="en-US" sz="4000"/>
              <a:t> pywhatkit</a:t>
            </a:r>
            <a:endParaRPr lang="en-US" altLang="en-US" sz="4000"/>
          </a:p>
          <a:p>
            <a:pPr marL="0" indent="0">
              <a:buNone/>
            </a:pPr>
            <a:r>
              <a:rPr lang="en-US" altLang="en-US" sz="4000"/>
              <a:t># Define recipient number (include country code) and message</a:t>
            </a:r>
            <a:endParaRPr lang="en-US" altLang="en-US" sz="4000"/>
          </a:p>
          <a:p>
            <a:pPr marL="0" indent="0">
              <a:buNone/>
            </a:pPr>
            <a:r>
              <a:rPr lang="en-US" altLang="en-US" sz="4000"/>
              <a:t>phone_number = "+1234567890"  # Replace with your recipient's number</a:t>
            </a:r>
            <a:endParaRPr lang="en-US" altLang="en-US" sz="4000"/>
          </a:p>
          <a:p>
            <a:pPr marL="0" indent="0">
              <a:buNone/>
            </a:pPr>
            <a:r>
              <a:rPr lang="en-US" altLang="en-US" sz="4000"/>
              <a:t>message = "Good morning! Have a great day! </a:t>
            </a:r>
            <a:r>
              <a:rPr lang="zh-CN" altLang="en-US" sz="4000"/>
              <a:t>☀</a:t>
            </a:r>
            <a:r>
              <a:rPr lang="" altLang="en-US" sz="4000"/>
              <a:t>️</a:t>
            </a:r>
            <a:r>
              <a:rPr lang="en-US" altLang="en-US" sz="4000"/>
              <a:t>"</a:t>
            </a:r>
            <a:endParaRPr lang="en-US" altLang="en-US" sz="4000"/>
          </a:p>
          <a:p>
            <a:pPr marL="0" indent="0">
              <a:buNone/>
            </a:pPr>
            <a:endParaRPr lang="en-US" altLang="en-US" sz="4000"/>
          </a:p>
          <a:p>
            <a:pPr marL="0" indent="0">
              <a:buNone/>
            </a:pPr>
            <a:r>
              <a:rPr lang="en-US" altLang="en-US" sz="4000"/>
              <a:t># Schedule message at 8:00 AM</a:t>
            </a:r>
            <a:endParaRPr lang="en-US" altLang="en-US" sz="4000"/>
          </a:p>
          <a:p>
            <a:pPr marL="0" indent="0">
              <a:buNone/>
            </a:pPr>
            <a:r>
              <a:rPr lang="en-US" altLang="en-US" sz="4000"/>
              <a:t>pywhatkit.sendwhatmsg(phone_number, message, 8, 0)</a:t>
            </a:r>
            <a:endParaRPr lang="en-US" altLang="en-US" sz="4000"/>
          </a:p>
          <a:p>
            <a:pPr marL="0" indent="0">
              <a:buNone/>
            </a:pPr>
            <a:r>
              <a:rPr lang="en-US" altLang="en-US" sz="4000"/>
              <a:t>print("Message scheduled successfully!")</a:t>
            </a:r>
            <a:endParaRPr lang="en-US" altLang="en-US" sz="4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800" b="1" u="sng">
                <a:sym typeface="+mn-ea"/>
              </a:rPr>
              <a:t>3. Automate the Script to Run Daily</a:t>
            </a:r>
            <a:endParaRPr lang="en-US" altLang="en-US" sz="4800" b="1" u="sng">
              <a:sym typeface="+mn-ea"/>
            </a:endParaRPr>
          </a:p>
        </p:txBody>
      </p:sp>
      <p:sp>
        <p:nvSpPr>
          <p:cNvPr id="3" name="Content Placeholder 2"/>
          <p:cNvSpPr>
            <a:spLocks noGrp="1"/>
          </p:cNvSpPr>
          <p:nvPr>
            <p:ph idx="1"/>
          </p:nvPr>
        </p:nvSpPr>
        <p:spPr/>
        <p:txBody>
          <a:bodyPr>
            <a:normAutofit fontScale="80000"/>
          </a:bodyPr>
          <a:p>
            <a:pPr>
              <a:buFont typeface="Wingdings" panose="05000000000000000000" charset="0"/>
              <a:buChar char="Ø"/>
            </a:pPr>
            <a:r>
              <a:rPr lang="en-US" altLang="en-US" sz="4000" b="1" u="sng"/>
              <a:t>Windows (Task Scheduler)</a:t>
            </a:r>
            <a:endParaRPr lang="en-US" altLang="en-US"/>
          </a:p>
          <a:p>
            <a:pPr>
              <a:buFont typeface="Wingdings" panose="05000000000000000000" charset="0"/>
              <a:buChar char="v"/>
            </a:pPr>
            <a:r>
              <a:rPr lang="en-US" altLang="en-US"/>
              <a:t>   </a:t>
            </a:r>
            <a:r>
              <a:rPr lang="en-US" altLang="en-US" b="1" u="sng"/>
              <a:t>Open</a:t>
            </a:r>
            <a:r>
              <a:rPr lang="en-US" altLang="en-US" b="1"/>
              <a:t> Task Scheduler.</a:t>
            </a:r>
            <a:endParaRPr lang="en-US" altLang="en-US" b="1"/>
          </a:p>
          <a:p>
            <a:pPr>
              <a:buFont typeface="Wingdings" panose="05000000000000000000" charset="0"/>
              <a:buChar char="v"/>
            </a:pPr>
            <a:r>
              <a:rPr lang="en-US" altLang="en-US" b="1"/>
              <a:t>   </a:t>
            </a:r>
            <a:r>
              <a:rPr lang="en-US" altLang="en-US" b="1" u="sng"/>
              <a:t> Click on </a:t>
            </a:r>
            <a:r>
              <a:rPr lang="en-US" altLang="en-US" b="1"/>
              <a:t>Create Basic Task.</a:t>
            </a:r>
            <a:endParaRPr lang="en-US" altLang="en-US" b="1"/>
          </a:p>
          <a:p>
            <a:pPr>
              <a:buFont typeface="Wingdings" panose="05000000000000000000" charset="0"/>
              <a:buChar char="v"/>
            </a:pPr>
            <a:r>
              <a:rPr lang="en-US" altLang="en-US" b="1"/>
              <a:t>    Set the trigger to Daily at 8:00 AM.</a:t>
            </a:r>
            <a:endParaRPr lang="en-US" altLang="en-US" b="1"/>
          </a:p>
          <a:p>
            <a:pPr>
              <a:buFont typeface="Wingdings" panose="05000000000000000000" charset="0"/>
              <a:buChar char="v"/>
            </a:pPr>
            <a:r>
              <a:rPr lang="en-US" altLang="en-US" b="1"/>
              <a:t>    Under Action, select Start a Program.</a:t>
            </a:r>
            <a:endParaRPr lang="en-US" altLang="en-US" b="1"/>
          </a:p>
          <a:p>
            <a:pPr>
              <a:buFont typeface="Wingdings" panose="05000000000000000000" charset="0"/>
              <a:buChar char="v"/>
            </a:pPr>
            <a:r>
              <a:rPr lang="en-US" altLang="en-US" b="1"/>
              <a:t>    In the Program/Script field, enter the path to Python (e.g., C:\Users\YourName\AppData\Local\Programs\Python\Python39\python.exe).</a:t>
            </a:r>
            <a:endParaRPr lang="en-US" altLang="en-US" b="1"/>
          </a:p>
          <a:p>
            <a:pPr>
              <a:buFont typeface="Wingdings" panose="05000000000000000000" charset="0"/>
              <a:buChar char="v"/>
            </a:pPr>
            <a:r>
              <a:rPr lang="en-US" altLang="en-US" b="1"/>
              <a:t>    In the Add arguments field, enter the path to your script (e.g., "C:\Users\YourName\Desktop\whatsapp_script.py").</a:t>
            </a:r>
            <a:endParaRPr lang="en-US" altLang="en-US" b="1"/>
          </a:p>
          <a:p>
            <a:pPr>
              <a:buFont typeface="Wingdings" panose="05000000000000000000" charset="0"/>
              <a:buChar char="v"/>
            </a:pPr>
            <a:r>
              <a:rPr lang="en-US" altLang="en-US" b="1"/>
              <a:t>    Click Finish.</a:t>
            </a:r>
            <a:endParaRPr lang="en-US" alt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ounded Rectangle 3"/>
          <p:cNvSpPr/>
          <p:nvPr/>
        </p:nvSpPr>
        <p:spPr>
          <a:xfrm>
            <a:off x="2567940" y="1490980"/>
            <a:ext cx="7002780" cy="41757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n>
                <a:solidFill>
                  <a:schemeClr val="bg1"/>
                </a:solidFill>
              </a:ln>
              <a:solidFill>
                <a:srgbClr val="FF0000"/>
              </a:solidFill>
            </a:endParaRPr>
          </a:p>
        </p:txBody>
      </p:sp>
      <p:sp>
        <p:nvSpPr>
          <p:cNvPr id="5" name="Text Box 4"/>
          <p:cNvSpPr txBox="1"/>
          <p:nvPr/>
        </p:nvSpPr>
        <p:spPr>
          <a:xfrm>
            <a:off x="4161155" y="2270760"/>
            <a:ext cx="4064000" cy="368300"/>
          </a:xfrm>
          <a:prstGeom prst="rect">
            <a:avLst/>
          </a:prstGeom>
          <a:noFill/>
        </p:spPr>
        <p:txBody>
          <a:bodyPr wrap="square" rtlCol="0">
            <a:spAutoFit/>
          </a:bodyPr>
          <a:p>
            <a:endParaRPr lang="en-US"/>
          </a:p>
        </p:txBody>
      </p:sp>
      <p:sp>
        <p:nvSpPr>
          <p:cNvPr id="7" name="Text Box 6"/>
          <p:cNvSpPr txBox="1"/>
          <p:nvPr/>
        </p:nvSpPr>
        <p:spPr>
          <a:xfrm>
            <a:off x="3546475" y="2270760"/>
            <a:ext cx="5485130" cy="2850515"/>
          </a:xfrm>
          <a:prstGeom prst="rect">
            <a:avLst/>
          </a:prstGeom>
          <a:noFill/>
        </p:spPr>
        <p:txBody>
          <a:bodyPr wrap="square" rtlCol="0">
            <a:noAutofit/>
          </a:bodyPr>
          <a:p>
            <a:r>
              <a:rPr lang="en-US" altLang="en-US" sz="2400" b="1">
                <a:solidFill>
                  <a:schemeClr val="bg1"/>
                </a:solidFill>
              </a:rPr>
              <a:t>Find Your Python Path on Your Device</a:t>
            </a:r>
            <a:endParaRPr lang="en-US" altLang="en-US" sz="2400" b="1">
              <a:solidFill>
                <a:schemeClr val="bg1"/>
              </a:solidFill>
            </a:endParaRPr>
          </a:p>
          <a:p>
            <a:endParaRPr lang="en-US" altLang="en-US" sz="2400" b="1">
              <a:solidFill>
                <a:schemeClr val="bg1"/>
              </a:solidFill>
            </a:endParaRPr>
          </a:p>
          <a:p>
            <a:r>
              <a:rPr lang="en-US" altLang="en-US" sz="2400" b="1">
                <a:solidFill>
                  <a:schemeClr val="bg1"/>
                </a:solidFill>
              </a:rPr>
              <a:t>Open Command Prompt (cmd) or Terminal and type:</a:t>
            </a:r>
            <a:endParaRPr lang="en-US" altLang="en-US" sz="2400" b="1">
              <a:solidFill>
                <a:schemeClr val="bg1"/>
              </a:solidFill>
            </a:endParaRPr>
          </a:p>
          <a:p>
            <a:endParaRPr lang="en-US" altLang="en-US" sz="2400" b="1">
              <a:solidFill>
                <a:schemeClr val="bg1"/>
              </a:solidFill>
            </a:endParaRPr>
          </a:p>
          <a:p>
            <a:r>
              <a:rPr lang="en-US" altLang="en-US" sz="2400" b="1">
                <a:solidFill>
                  <a:schemeClr val="bg1"/>
                </a:solidFill>
              </a:rPr>
              <a:t>where python  # For Windows</a:t>
            </a:r>
            <a:endParaRPr lang="en-US" altLang="en-US" sz="2400" b="1">
              <a:solidFill>
                <a:schemeClr val="bg1"/>
              </a:solidFill>
            </a:endParaRPr>
          </a:p>
          <a:p>
            <a:r>
              <a:rPr lang="en-US" altLang="en-US" sz="2400" b="1">
                <a:solidFill>
                  <a:schemeClr val="bg1"/>
                </a:solidFill>
              </a:rPr>
              <a:t>which python  # For macOS/Linux</a:t>
            </a:r>
            <a:endParaRPr lang="en-US" altLang="en-US" sz="2400" b="1">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600" b="1" u="sng">
                <a:latin typeface="Berlin Sans FB Demi" panose="020E0802020502020306" charset="0"/>
                <a:cs typeface="Berlin Sans FB Demi" panose="020E0802020502020306" charset="0"/>
              </a:rPr>
              <a:t>To automate sending a weekly email report using Python, follow these steps:</a:t>
            </a:r>
            <a:endParaRPr lang="en-US" altLang="en-US" sz="3600" b="1" u="sng">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p:txBody>
          <a:bodyPr/>
          <a:p>
            <a:pPr>
              <a:buFont typeface="Wingdings" panose="05000000000000000000" charset="0"/>
              <a:buChar char="Ø"/>
            </a:pPr>
            <a:r>
              <a:rPr lang="en-US" altLang="en-US" b="1"/>
              <a:t>1. Install Required Library</a:t>
            </a:r>
            <a:endParaRPr lang="en-US" altLang="en-US" b="1"/>
          </a:p>
          <a:p>
            <a:pPr>
              <a:buFont typeface="Wingdings" panose="05000000000000000000" charset="0"/>
              <a:buChar char="Ø"/>
            </a:pPr>
            <a:endParaRPr lang="en-US" altLang="en-US" b="1"/>
          </a:p>
          <a:p>
            <a:pPr>
              <a:buFont typeface="Wingdings" panose="05000000000000000000" charset="0"/>
              <a:buChar char="Ø"/>
            </a:pPr>
            <a:r>
              <a:rPr lang="en-US" altLang="en-US" b="1"/>
              <a:t>Use the smtplib and email modules (built-in in Python). If you want to format your email in HTML, install email.message:</a:t>
            </a:r>
            <a:endParaRPr lang="en-US" altLang="en-US" b="1"/>
          </a:p>
          <a:p>
            <a:pPr>
              <a:buFont typeface="Wingdings" panose="05000000000000000000" charset="0"/>
              <a:buChar char="Ø"/>
            </a:pPr>
            <a:endParaRPr lang="en-US" altLang="en-US" b="1"/>
          </a:p>
          <a:p>
            <a:pPr>
              <a:buFont typeface="Wingdings" panose="05000000000000000000" charset="0"/>
              <a:buChar char="Ø"/>
            </a:pPr>
            <a:r>
              <a:rPr lang="en-US" altLang="en-US" b="1">
                <a:solidFill>
                  <a:srgbClr val="FF0000"/>
                </a:solidFill>
              </a:rPr>
              <a:t>pip install email</a:t>
            </a:r>
            <a:endParaRPr lang="en-US" altLang="en-US" b="1">
              <a:solidFill>
                <a:srgbClr val="FF0000"/>
              </a:solidFill>
            </a:endParaRPr>
          </a:p>
          <a:p>
            <a:pPr>
              <a:buFont typeface="Wingdings" panose="05000000000000000000" charset="0"/>
              <a:buChar char="Ø"/>
            </a:pPr>
            <a:endParaRPr lang="en-US" altLang="en-US" b="1">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u="sng">
                <a:latin typeface="Berlin Sans FB Demi" panose="020E0802020502020306" charset="0"/>
                <a:cs typeface="Berlin Sans FB Demi" panose="020E0802020502020306" charset="0"/>
              </a:rPr>
              <a:t>2. Write the Python Script</a:t>
            </a:r>
            <a:br>
              <a:rPr lang="en-US" altLang="en-US" sz="3200" b="1" u="sng">
                <a:latin typeface="Berlin Sans FB Demi" panose="020E0802020502020306" charset="0"/>
                <a:cs typeface="Berlin Sans FB Demi" panose="020E0802020502020306" charset="0"/>
              </a:rPr>
            </a:br>
            <a:r>
              <a:rPr lang="en-US" altLang="en-US" sz="3200" b="1" u="sng">
                <a:latin typeface="Berlin Sans FB Demi" panose="020E0802020502020306" charset="0"/>
                <a:cs typeface="Berlin Sans FB Demi" panose="020E0802020502020306" charset="0"/>
              </a:rPr>
              <a:t>This script will send an email every Monday at 9:00 AM.</a:t>
            </a:r>
            <a:endParaRPr lang="en-US" altLang="en-US" sz="3200" b="1" u="sng">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a:xfrm>
            <a:off x="838200" y="1691005"/>
            <a:ext cx="10515600" cy="4351338"/>
          </a:xfrm>
        </p:spPr>
        <p:txBody>
          <a:bodyPr>
            <a:noAutofit/>
          </a:bodyPr>
          <a:p>
            <a:pPr>
              <a:buFont typeface="Wingdings" panose="05000000000000000000" charset="0"/>
              <a:buChar char="§"/>
            </a:pPr>
            <a:r>
              <a:rPr lang="en-US" altLang="en-US" sz="1800"/>
              <a:t>import yagmail</a:t>
            </a:r>
            <a:endParaRPr lang="en-US" altLang="en-US" sz="1800"/>
          </a:p>
          <a:p>
            <a:pPr>
              <a:buFont typeface="Wingdings" panose="05000000000000000000" charset="0"/>
              <a:buChar char="§"/>
            </a:pPr>
            <a:r>
              <a:rPr lang="en-US" altLang="en-US" sz="1800"/>
              <a:t>import schedule</a:t>
            </a:r>
            <a:endParaRPr lang="en-US" altLang="en-US" sz="1800"/>
          </a:p>
          <a:p>
            <a:pPr>
              <a:buFont typeface="Wingdings" panose="05000000000000000000" charset="0"/>
              <a:buChar char="§"/>
            </a:pPr>
            <a:r>
              <a:rPr lang="en-US" altLang="en-US" sz="1800"/>
              <a:t>import time</a:t>
            </a:r>
            <a:endParaRPr lang="en-US" altLang="en-US" sz="1800"/>
          </a:p>
          <a:p>
            <a:pPr>
              <a:buFont typeface="Wingdings" panose="05000000000000000000" charset="0"/>
              <a:buChar char="§"/>
            </a:pPr>
            <a:r>
              <a:rPr lang="en-US" altLang="en-US" sz="1800">
                <a:solidFill>
                  <a:srgbClr val="FF0000"/>
                </a:solidFill>
              </a:rPr>
              <a:t># </a:t>
            </a:r>
            <a:r>
              <a:rPr lang="ar-SA" altLang="en-US" sz="1800">
                <a:solidFill>
                  <a:srgbClr val="FF0000"/>
                </a:solidFill>
              </a:rPr>
              <a:t>إنشاء</a:t>
            </a:r>
            <a:r>
              <a:rPr lang="en-US" altLang="en-US" sz="1800">
                <a:solidFill>
                  <a:srgbClr val="FF0000"/>
                </a:solidFill>
              </a:rPr>
              <a:t> </a:t>
            </a:r>
            <a:r>
              <a:rPr lang="ar-SA" altLang="en-US" sz="1800">
                <a:solidFill>
                  <a:srgbClr val="FF0000"/>
                </a:solidFill>
              </a:rPr>
              <a:t>حساب</a:t>
            </a:r>
            <a:r>
              <a:rPr lang="en-US" altLang="en-US" sz="1800">
                <a:solidFill>
                  <a:srgbClr val="FF0000"/>
                </a:solidFill>
              </a:rPr>
              <a:t> </a:t>
            </a:r>
            <a:r>
              <a:rPr lang="ar-SA" altLang="en-US" sz="1800">
                <a:solidFill>
                  <a:srgbClr val="FF0000"/>
                </a:solidFill>
              </a:rPr>
              <a:t>الإرسال</a:t>
            </a:r>
            <a:endParaRPr lang="ar-SA" altLang="en-US" sz="1800">
              <a:solidFill>
                <a:srgbClr val="FF0000"/>
              </a:solidFill>
            </a:endParaRPr>
          </a:p>
          <a:p>
            <a:pPr>
              <a:buFont typeface="Wingdings" panose="05000000000000000000" charset="0"/>
              <a:buChar char="§"/>
            </a:pPr>
            <a:r>
              <a:rPr lang="en-US" altLang="en-US" sz="1800"/>
              <a:t>yag = yagmail.SMTP("your_email@gmail.com")</a:t>
            </a:r>
            <a:endParaRPr lang="en-US" altLang="en-US" sz="1800"/>
          </a:p>
          <a:p>
            <a:pPr>
              <a:buFont typeface="Wingdings" panose="05000000000000000000" charset="0"/>
              <a:buChar char="§"/>
            </a:pPr>
            <a:r>
              <a:rPr lang="en-US" altLang="en-US" sz="1800"/>
              <a:t>def send_weekly_report():</a:t>
            </a:r>
            <a:endParaRPr lang="en-US" altLang="en-US" sz="1800"/>
          </a:p>
          <a:p>
            <a:pPr>
              <a:buFont typeface="Wingdings" panose="05000000000000000000" charset="0"/>
              <a:buChar char="§"/>
            </a:pPr>
            <a:r>
              <a:rPr lang="en-US" altLang="en-US" sz="1800"/>
              <a:t>    subject = "Weekly Work Report"</a:t>
            </a:r>
            <a:endParaRPr lang="en-US" altLang="en-US" sz="1800"/>
          </a:p>
          <a:p>
            <a:pPr>
              <a:buFont typeface="Wingdings" panose="05000000000000000000" charset="0"/>
              <a:buChar char="§"/>
            </a:pPr>
            <a:r>
              <a:rPr lang="en-US" altLang="en-US" sz="1800"/>
              <a:t>    body = ""</a:t>
            </a:r>
            <a:r>
              <a:rPr lang="ar-EG" altLang="en-US" sz="1800"/>
              <a:t>  </a:t>
            </a:r>
            <a:r>
              <a:rPr lang="en-US" altLang="en-US" sz="1800"/>
              <a:t>Hello,</a:t>
            </a:r>
            <a:endParaRPr lang="en-US" altLang="en-US" sz="1800"/>
          </a:p>
          <a:p>
            <a:pPr>
              <a:buFont typeface="Wingdings" panose="05000000000000000000" charset="0"/>
              <a:buChar char="§"/>
            </a:pPr>
            <a:r>
              <a:rPr lang="en-US" altLang="en-US" sz="1800"/>
              <a:t>    This is your automated weekly report.</a:t>
            </a:r>
            <a:endParaRPr lang="en-US" altLang="en-US" sz="1800"/>
          </a:p>
          <a:p>
            <a:pPr>
              <a:buFont typeface="Wingdings" panose="05000000000000000000" charset="0"/>
              <a:buChar char="§"/>
            </a:pPr>
            <a:r>
              <a:rPr lang="en-US" altLang="en-US" sz="1800"/>
              <a:t>    - ✅ Task 1 completed</a:t>
            </a:r>
            <a:endParaRPr lang="en-US" altLang="en-US" sz="1800"/>
          </a:p>
          <a:p>
            <a:pPr>
              <a:buFont typeface="Wingdings" panose="05000000000000000000" charset="0"/>
              <a:buChar char="§"/>
            </a:pPr>
            <a:r>
              <a:rPr lang="en-US" altLang="en-US" sz="1800"/>
              <a:t>    - ⏳ Task 2 in progress</a:t>
            </a:r>
            <a:endParaRPr lang="en-US" altLang="en-US" sz="1800"/>
          </a:p>
          <a:p>
            <a:pPr>
              <a:buFont typeface="Wingdings" panose="05000000000000000000" charset="0"/>
              <a:buChar char="§"/>
            </a:pPr>
            <a:r>
              <a:rPr lang="en-US" altLang="en-US" sz="1800"/>
              <a:t>    - </a:t>
            </a:r>
            <a:r>
              <a:rPr lang="zh-CN" altLang="en-US" sz="1800"/>
              <a:t>🔜</a:t>
            </a:r>
            <a:r>
              <a:rPr lang="en-US" altLang="en-US" sz="1800"/>
              <a:t> Upcoming tasks for next week</a:t>
            </a:r>
            <a:endParaRPr lang="en-US" altLang="en-US" sz="1800"/>
          </a:p>
          <a:p>
            <a:pPr>
              <a:buFont typeface="Wingdings" panose="05000000000000000000" charset="0"/>
              <a:buChar char="§"/>
            </a:pPr>
            <a:r>
              <a:rPr lang="en-US" altLang="en-US" sz="1800"/>
              <a:t>   </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3095" y="961390"/>
            <a:ext cx="10515600" cy="4351338"/>
          </a:xfrm>
        </p:spPr>
        <p:txBody>
          <a:bodyPr>
            <a:noAutofit/>
          </a:bodyPr>
          <a:p>
            <a:pPr>
              <a:buFont typeface="Wingdings" panose="05000000000000000000" charset="0"/>
              <a:buChar char="§"/>
            </a:pPr>
            <a:r>
              <a:rPr lang="ar-EG" altLang="en-US" sz="1800" b="1">
                <a:sym typeface="+mn-ea"/>
              </a:rPr>
              <a:t>  </a:t>
            </a:r>
            <a:r>
              <a:rPr lang="en-US" altLang="en-US" sz="1800" b="1">
                <a:sym typeface="+mn-ea"/>
              </a:rPr>
              <a:t> Regards,</a:t>
            </a:r>
            <a:endParaRPr lang="en-US" altLang="en-US" sz="1800" b="1"/>
          </a:p>
          <a:p>
            <a:pPr>
              <a:buFont typeface="Wingdings" panose="05000000000000000000" charset="0"/>
              <a:buChar char="§"/>
            </a:pPr>
            <a:r>
              <a:rPr lang="en-US" altLang="en-US" sz="1800" b="1">
                <a:sym typeface="+mn-ea"/>
              </a:rPr>
              <a:t>    Your Name</a:t>
            </a:r>
            <a:endParaRPr lang="en-US" altLang="en-US" sz="1800" b="1"/>
          </a:p>
          <a:p>
            <a:pPr>
              <a:buFont typeface="Wingdings" panose="05000000000000000000" charset="0"/>
              <a:buChar char="§"/>
            </a:pPr>
            <a:r>
              <a:rPr lang="en-US" altLang="en-US" sz="1800" b="1">
                <a:sym typeface="+mn-ea"/>
              </a:rPr>
              <a:t>    """</a:t>
            </a:r>
            <a:endParaRPr lang="en-US" altLang="en-US" sz="1800" b="1"/>
          </a:p>
          <a:p>
            <a:pPr>
              <a:buFont typeface="Wingdings" panose="05000000000000000000" charset="0"/>
              <a:buChar char="§"/>
            </a:pPr>
            <a:r>
              <a:rPr lang="en-US" altLang="en-US" sz="1800" b="1">
                <a:sym typeface="+mn-ea"/>
              </a:rPr>
              <a:t>    yag.send("receiver_email@gmail.com", subject, body)</a:t>
            </a:r>
            <a:endParaRPr lang="en-US" altLang="en-US" sz="1800" b="1"/>
          </a:p>
          <a:p>
            <a:pPr>
              <a:buFont typeface="Wingdings" panose="05000000000000000000" charset="0"/>
              <a:buChar char="§"/>
            </a:pPr>
            <a:r>
              <a:rPr lang="en-US" altLang="en-US" sz="1800" b="1">
                <a:sym typeface="+mn-ea"/>
              </a:rPr>
              <a:t>    print("</a:t>
            </a:r>
            <a:r>
              <a:rPr lang="zh-CN" altLang="en-US" sz="1800" b="1">
                <a:sym typeface="+mn-ea"/>
              </a:rPr>
              <a:t>📧</a:t>
            </a:r>
            <a:r>
              <a:rPr lang="en-US" altLang="en-US" sz="1800" b="1">
                <a:sym typeface="+mn-ea"/>
              </a:rPr>
              <a:t> Email sent successfully!")</a:t>
            </a:r>
            <a:endParaRPr lang="en-US" altLang="en-US" sz="1800" b="1"/>
          </a:p>
          <a:p>
            <a:pPr>
              <a:buFont typeface="Wingdings" panose="05000000000000000000" charset="0"/>
              <a:buChar char="§"/>
            </a:pPr>
            <a:endParaRPr lang="en-US" altLang="en-US" sz="1800" b="1"/>
          </a:p>
          <a:p>
            <a:pPr>
              <a:buFont typeface="Wingdings" panose="05000000000000000000" charset="0"/>
              <a:buChar char="§"/>
            </a:pPr>
            <a:r>
              <a:rPr lang="en-US" altLang="en-US" sz="1800" b="1">
                <a:solidFill>
                  <a:srgbClr val="FF0000"/>
                </a:solidFill>
              </a:rPr>
              <a:t># </a:t>
            </a:r>
            <a:r>
              <a:rPr lang="ar-SA" altLang="en-US" sz="1800" b="1">
                <a:solidFill>
                  <a:srgbClr val="FF0000"/>
                </a:solidFill>
              </a:rPr>
              <a:t>جدولة</a:t>
            </a:r>
            <a:r>
              <a:rPr lang="en-US" altLang="en-US" sz="1800" b="1">
                <a:solidFill>
                  <a:srgbClr val="FF0000"/>
                </a:solidFill>
              </a:rPr>
              <a:t> </a:t>
            </a:r>
            <a:r>
              <a:rPr lang="ar-SA" altLang="en-US" sz="1800" b="1">
                <a:solidFill>
                  <a:srgbClr val="FF0000"/>
                </a:solidFill>
              </a:rPr>
              <a:t>الإرسال</a:t>
            </a:r>
            <a:r>
              <a:rPr lang="en-US" altLang="en-US" sz="1800" b="1">
                <a:solidFill>
                  <a:srgbClr val="FF0000"/>
                </a:solidFill>
              </a:rPr>
              <a:t> </a:t>
            </a:r>
            <a:r>
              <a:rPr lang="ar-SA" altLang="en-US" sz="1800" b="1">
                <a:solidFill>
                  <a:srgbClr val="FF0000"/>
                </a:solidFill>
              </a:rPr>
              <a:t>كل</a:t>
            </a:r>
            <a:r>
              <a:rPr lang="en-US" altLang="en-US" sz="1800" b="1">
                <a:solidFill>
                  <a:srgbClr val="FF0000"/>
                </a:solidFill>
              </a:rPr>
              <a:t> </a:t>
            </a:r>
            <a:r>
              <a:rPr lang="ar-SA" altLang="en-US" sz="1800" b="1">
                <a:solidFill>
                  <a:srgbClr val="FF0000"/>
                </a:solidFill>
              </a:rPr>
              <a:t>يوم</a:t>
            </a:r>
            <a:r>
              <a:rPr lang="en-US" altLang="en-US" sz="1800" b="1">
                <a:solidFill>
                  <a:srgbClr val="FF0000"/>
                </a:solidFill>
              </a:rPr>
              <a:t> </a:t>
            </a:r>
            <a:r>
              <a:rPr lang="ar-SA" altLang="en-US" sz="1800" b="1">
                <a:solidFill>
                  <a:srgbClr val="FF0000"/>
                </a:solidFill>
              </a:rPr>
              <a:t>اثنين</a:t>
            </a:r>
            <a:r>
              <a:rPr lang="en-US" altLang="en-US" sz="1800" b="1">
                <a:solidFill>
                  <a:srgbClr val="FF0000"/>
                </a:solidFill>
              </a:rPr>
              <a:t> </a:t>
            </a:r>
            <a:r>
              <a:rPr lang="ar-SA" altLang="en-US" sz="1800" b="1">
                <a:solidFill>
                  <a:srgbClr val="FF0000"/>
                </a:solidFill>
              </a:rPr>
              <a:t>الساعة</a:t>
            </a:r>
            <a:r>
              <a:rPr lang="en-US" altLang="en-US" sz="1800" b="1">
                <a:solidFill>
                  <a:srgbClr val="FF0000"/>
                </a:solidFill>
              </a:rPr>
              <a:t> 9 </a:t>
            </a:r>
            <a:r>
              <a:rPr lang="ar-SA" altLang="en-US" sz="1800" b="1">
                <a:solidFill>
                  <a:srgbClr val="FF0000"/>
                </a:solidFill>
              </a:rPr>
              <a:t>صباحًا</a:t>
            </a:r>
            <a:endParaRPr lang="ar-SA" altLang="en-US" sz="1800" b="1">
              <a:solidFill>
                <a:srgbClr val="FF0000"/>
              </a:solidFill>
            </a:endParaRPr>
          </a:p>
          <a:p>
            <a:pPr>
              <a:buFont typeface="Wingdings" panose="05000000000000000000" charset="0"/>
              <a:buChar char="§"/>
            </a:pPr>
            <a:r>
              <a:rPr lang="en-US" altLang="en-US" sz="1800" b="1"/>
              <a:t>schedule.every().monday.at("09:00").do(send_weekly_report)</a:t>
            </a:r>
            <a:endParaRPr lang="en-US" altLang="en-US" sz="1800" b="1"/>
          </a:p>
          <a:p>
            <a:pPr>
              <a:buFont typeface="Wingdings" panose="05000000000000000000" charset="0"/>
              <a:buChar char="§"/>
            </a:pPr>
            <a:endParaRPr lang="en-US" altLang="en-US" sz="1800" b="1"/>
          </a:p>
          <a:p>
            <a:pPr>
              <a:buFont typeface="Wingdings" panose="05000000000000000000" charset="0"/>
              <a:buChar char="§"/>
            </a:pPr>
            <a:r>
              <a:rPr lang="en-US" altLang="en-US" sz="1800" b="1"/>
              <a:t>print("</a:t>
            </a:r>
            <a:r>
              <a:rPr lang="zh-CN" altLang="en-US" sz="1800" b="1"/>
              <a:t>📌</a:t>
            </a:r>
            <a:r>
              <a:rPr lang="en-US" altLang="en-US" sz="1800" b="1"/>
              <a:t> Email scheduler is running...")</a:t>
            </a:r>
            <a:endParaRPr lang="en-US" altLang="en-US" sz="1800" b="1"/>
          </a:p>
          <a:p>
            <a:pPr>
              <a:buFont typeface="Wingdings" panose="05000000000000000000" charset="0"/>
              <a:buChar char="§"/>
            </a:pPr>
            <a:endParaRPr lang="en-US" altLang="en-US" sz="1800" b="1"/>
          </a:p>
          <a:p>
            <a:pPr>
              <a:buFont typeface="Wingdings" panose="05000000000000000000" charset="0"/>
              <a:buChar char="§"/>
            </a:pPr>
            <a:r>
              <a:rPr lang="en-US" altLang="en-US" sz="1800" b="1">
                <a:solidFill>
                  <a:srgbClr val="FF0000"/>
                </a:solidFill>
              </a:rPr>
              <a:t># </a:t>
            </a:r>
            <a:r>
              <a:rPr lang="ar-SA" altLang="en-US" sz="1800" b="1">
                <a:solidFill>
                  <a:srgbClr val="FF0000"/>
                </a:solidFill>
              </a:rPr>
              <a:t>تشغيل</a:t>
            </a:r>
            <a:r>
              <a:rPr lang="en-US" altLang="en-US" sz="1800" b="1">
                <a:solidFill>
                  <a:srgbClr val="FF0000"/>
                </a:solidFill>
              </a:rPr>
              <a:t> </a:t>
            </a:r>
            <a:r>
              <a:rPr lang="ar-SA" altLang="en-US" sz="1800" b="1">
                <a:solidFill>
                  <a:srgbClr val="FF0000"/>
                </a:solidFill>
              </a:rPr>
              <a:t>الجدولة</a:t>
            </a:r>
            <a:r>
              <a:rPr lang="en-US" altLang="en-US" sz="1800" b="1">
                <a:solidFill>
                  <a:srgbClr val="FF0000"/>
                </a:solidFill>
              </a:rPr>
              <a:t> </a:t>
            </a:r>
            <a:r>
              <a:rPr lang="ar-SA" altLang="en-US" sz="1800" b="1">
                <a:solidFill>
                  <a:srgbClr val="FF0000"/>
                </a:solidFill>
              </a:rPr>
              <a:t>إلى</a:t>
            </a:r>
            <a:r>
              <a:rPr lang="en-US" altLang="en-US" sz="1800" b="1">
                <a:solidFill>
                  <a:srgbClr val="FF0000"/>
                </a:solidFill>
              </a:rPr>
              <a:t> </a:t>
            </a:r>
            <a:r>
              <a:rPr lang="ar-SA" altLang="en-US" sz="1800" b="1">
                <a:solidFill>
                  <a:srgbClr val="FF0000"/>
                </a:solidFill>
              </a:rPr>
              <a:t>الأبد</a:t>
            </a:r>
            <a:endParaRPr lang="ar-SA" altLang="en-US" sz="1800" b="1">
              <a:solidFill>
                <a:srgbClr val="FF0000"/>
              </a:solidFill>
            </a:endParaRPr>
          </a:p>
          <a:p>
            <a:pPr>
              <a:buFont typeface="Wingdings" panose="05000000000000000000" charset="0"/>
              <a:buChar char="§"/>
            </a:pPr>
            <a:r>
              <a:rPr lang="en-US" altLang="en-US" sz="1800" b="1"/>
              <a:t>while True:</a:t>
            </a:r>
            <a:endParaRPr lang="en-US" altLang="en-US" sz="1800" b="1"/>
          </a:p>
          <a:p>
            <a:pPr>
              <a:buFont typeface="Wingdings" panose="05000000000000000000" charset="0"/>
              <a:buChar char="§"/>
            </a:pPr>
            <a:r>
              <a:rPr lang="en-US" altLang="en-US" sz="1800" b="1"/>
              <a:t>    schedule.run_pending()</a:t>
            </a:r>
            <a:endParaRPr lang="en-US" altLang="en-US" sz="1800" b="1"/>
          </a:p>
          <a:p>
            <a:pPr>
              <a:buFont typeface="Wingdings" panose="05000000000000000000" charset="0"/>
              <a:buChar char="§"/>
            </a:pPr>
            <a:r>
              <a:rPr lang="en-US" altLang="en-US" sz="1800" b="1"/>
              <a:t>    time.sleep(60)</a:t>
            </a:r>
            <a:endParaRPr lang="en-US" altLang="en-US" sz="18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3. Automate the Script to Run Weekly</a:t>
            </a:r>
            <a:endParaRPr lang="en-US"/>
          </a:p>
        </p:txBody>
      </p:sp>
      <p:sp>
        <p:nvSpPr>
          <p:cNvPr id="3" name="Content Placeholder 2"/>
          <p:cNvSpPr>
            <a:spLocks noGrp="1"/>
          </p:cNvSpPr>
          <p:nvPr>
            <p:ph idx="1"/>
          </p:nvPr>
        </p:nvSpPr>
        <p:spPr/>
        <p:txBody>
          <a:bodyPr>
            <a:normAutofit fontScale="90000"/>
          </a:bodyPr>
          <a:p>
            <a:pPr>
              <a:buFont typeface="Wingdings" panose="05000000000000000000" charset="0"/>
              <a:buChar char="Ø"/>
            </a:pPr>
            <a:r>
              <a:rPr lang="en-US" altLang="en-US"/>
              <a:t> </a:t>
            </a:r>
            <a:r>
              <a:rPr lang="en-US" altLang="en-US" b="1" u="sng">
                <a:solidFill>
                  <a:srgbClr val="FF0000"/>
                </a:solidFill>
              </a:rPr>
              <a:t>Windows (Task Scheduler)</a:t>
            </a:r>
            <a:endParaRPr lang="en-US" altLang="en-US"/>
          </a:p>
          <a:p>
            <a:pPr>
              <a:buFont typeface="Wingdings" panose="05000000000000000000" charset="0"/>
              <a:buChar char="Ø"/>
            </a:pPr>
            <a:endParaRPr lang="en-US" altLang="en-US"/>
          </a:p>
          <a:p>
            <a:pPr>
              <a:buFont typeface="Wingdings" panose="05000000000000000000" charset="0"/>
              <a:buChar char="v"/>
            </a:pPr>
            <a:r>
              <a:rPr lang="en-US" altLang="en-US"/>
              <a:t>    Open Task Scheduler.</a:t>
            </a:r>
            <a:endParaRPr lang="en-US" altLang="en-US"/>
          </a:p>
          <a:p>
            <a:pPr>
              <a:buFont typeface="Wingdings" panose="05000000000000000000" charset="0"/>
              <a:buChar char="v"/>
            </a:pPr>
            <a:r>
              <a:rPr lang="en-US" altLang="en-US"/>
              <a:t>    Click on Create Basic Task → Weekly → Monday at 9:00 AM.</a:t>
            </a:r>
            <a:endParaRPr lang="en-US" altLang="en-US"/>
          </a:p>
          <a:p>
            <a:pPr>
              <a:buFont typeface="Wingdings" panose="05000000000000000000" charset="0"/>
              <a:buChar char="v"/>
            </a:pPr>
            <a:r>
              <a:rPr lang="en-US" altLang="en-US"/>
              <a:t>    Under Action, select Start a Program.</a:t>
            </a:r>
            <a:endParaRPr lang="en-US" altLang="en-US"/>
          </a:p>
          <a:p>
            <a:pPr>
              <a:buFont typeface="Wingdings" panose="05000000000000000000" charset="0"/>
              <a:buChar char="v"/>
            </a:pPr>
            <a:r>
              <a:rPr lang="en-US" altLang="en-US"/>
              <a:t>    In Program/Script, enter the path to Python (e.g., C:\Python39\python.exe).</a:t>
            </a:r>
            <a:endParaRPr lang="en-US" altLang="en-US"/>
          </a:p>
          <a:p>
            <a:pPr>
              <a:buFont typeface="Wingdings" panose="05000000000000000000" charset="0"/>
              <a:buChar char="v"/>
            </a:pPr>
            <a:r>
              <a:rPr lang="en-US" altLang="en-US"/>
              <a:t>    In Add arguments, enter the path to your script (e.g., "C:\Users\YourName\weekly_email.py").</a:t>
            </a:r>
            <a:endParaRPr lang="en-US" altLang="en-US"/>
          </a:p>
          <a:p>
            <a:pPr>
              <a:buFont typeface="Wingdings" panose="05000000000000000000" charset="0"/>
              <a:buChar char="v"/>
            </a:pPr>
            <a:r>
              <a:rPr lang="en-US" altLang="en-US"/>
              <a:t>    Click Finish.</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25830" y="1026795"/>
            <a:ext cx="10515600" cy="798830"/>
          </a:xfrm>
        </p:spPr>
        <p:txBody>
          <a:bodyPr>
            <a:noAutofit/>
          </a:bodyPr>
          <a:p>
            <a:r>
              <a:rPr lang="en-US" altLang="en-US" sz="3200" b="1" u="sng">
                <a:solidFill>
                  <a:srgbClr val="FF0000"/>
                </a:solidFill>
                <a:latin typeface="Berlin Sans FB Demi" panose="020E0802020502020306" charset="0"/>
                <a:cs typeface="Berlin Sans FB Demi" panose="020E0802020502020306" charset="0"/>
              </a:rPr>
              <a:t>Auto Shutdown Your PC at a Specific Time</a:t>
            </a:r>
            <a:br>
              <a:rPr lang="en-US" altLang="en-US" sz="3200" b="1" u="sng">
                <a:solidFill>
                  <a:srgbClr val="FF0000"/>
                </a:solidFill>
                <a:latin typeface="Berlin Sans FB Demi" panose="020E0802020502020306" charset="0"/>
                <a:cs typeface="Berlin Sans FB Demi" panose="020E0802020502020306" charset="0"/>
              </a:rPr>
            </a:br>
            <a:br>
              <a:rPr lang="en-US" altLang="en-US" sz="3200" b="1" u="sng">
                <a:solidFill>
                  <a:srgbClr val="FF0000"/>
                </a:solidFill>
                <a:latin typeface="Berlin Sans FB Demi" panose="020E0802020502020306" charset="0"/>
                <a:cs typeface="Berlin Sans FB Demi" panose="020E0802020502020306" charset="0"/>
              </a:rPr>
            </a:br>
            <a:endParaRPr lang="en-US" altLang="en-US" sz="3200" b="1" u="sng">
              <a:solidFill>
                <a:srgbClr val="FF0000"/>
              </a:solidFill>
              <a:latin typeface="Berlin Sans FB Demi" panose="020E0802020502020306" charset="0"/>
              <a:cs typeface="Berlin Sans FB Demi" panose="020E0802020502020306" charset="0"/>
            </a:endParaRPr>
          </a:p>
        </p:txBody>
      </p:sp>
      <p:sp>
        <p:nvSpPr>
          <p:cNvPr id="3" name="Content Placeholder 2"/>
          <p:cNvSpPr>
            <a:spLocks noGrp="1"/>
          </p:cNvSpPr>
          <p:nvPr>
            <p:ph idx="1"/>
          </p:nvPr>
        </p:nvSpPr>
        <p:spPr/>
        <p:txBody>
          <a:bodyPr>
            <a:normAutofit lnSpcReduction="10000"/>
          </a:bodyPr>
          <a:p>
            <a:r>
              <a:rPr lang="en-US" altLang="en-US" b="1">
                <a:latin typeface="Berlin Sans FB Demi" panose="020E0802020502020306" charset="0"/>
                <a:cs typeface="Berlin Sans FB Demi" panose="020E0802020502020306" charset="0"/>
                <a:sym typeface="+mn-ea"/>
              </a:rPr>
              <a:t>Use Case: Automatically shut down your computer after work hours.</a:t>
            </a:r>
            <a:endParaRPr lang="en-US" altLang="en-US" b="1">
              <a:latin typeface="Berlin Sans FB Demi" panose="020E0802020502020306" charset="0"/>
              <a:cs typeface="Berlin Sans FB Demi" panose="020E0802020502020306" charset="0"/>
            </a:endParaRPr>
          </a:p>
          <a:p>
            <a:pPr>
              <a:buFont typeface="Wingdings" panose="05000000000000000000" charset="0"/>
              <a:buChar char="Ø"/>
            </a:pPr>
            <a:r>
              <a:rPr lang="en-US" altLang="en-US" b="1" u="sng">
                <a:solidFill>
                  <a:srgbClr val="FF0000"/>
                </a:solidFill>
              </a:rPr>
              <a:t>✅ Python Code</a:t>
            </a:r>
            <a:endParaRPr lang="en-US" altLang="en-US" b="1" u="sng">
              <a:solidFill>
                <a:srgbClr val="FF0000"/>
              </a:solidFill>
            </a:endParaRPr>
          </a:p>
          <a:p>
            <a:pPr marL="0" indent="0">
              <a:buNone/>
            </a:pPr>
            <a:r>
              <a:rPr lang="en-US" altLang="en-US"/>
              <a:t>import os</a:t>
            </a:r>
            <a:endParaRPr lang="en-US" altLang="en-US"/>
          </a:p>
          <a:p>
            <a:pPr marL="0" indent="0">
              <a:buNone/>
            </a:pPr>
            <a:endParaRPr lang="en-US" altLang="en-US"/>
          </a:p>
          <a:p>
            <a:pPr marL="0" indent="0">
              <a:buNone/>
            </a:pPr>
            <a:r>
              <a:rPr lang="en-US" altLang="en-US"/>
              <a:t>shutdown_time = "22:30"  # Set shutdown time (24-hour format)</a:t>
            </a:r>
            <a:endParaRPr lang="en-US" altLang="en-US"/>
          </a:p>
          <a:p>
            <a:pPr marL="0" indent="0">
              <a:buNone/>
            </a:pPr>
            <a:endParaRPr lang="en-US" altLang="en-US"/>
          </a:p>
          <a:p>
            <a:pPr marL="0" indent="0">
              <a:buNone/>
            </a:pPr>
            <a:r>
              <a:rPr lang="en-US" altLang="en-US"/>
              <a:t>os.system(f"shutdown /s /t 0")</a:t>
            </a:r>
            <a:endParaRPr lang="en-US" altLang="en-US"/>
          </a:p>
          <a:p>
            <a:pPr marL="0" indent="0">
              <a:buNone/>
            </a:pPr>
            <a:r>
              <a:rPr lang="en-US" altLang="en-US"/>
              <a:t>print("✅ PC will shut down at", shutdown_time)</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5304</Words>
  <Application>WPS Presentation</Application>
  <PresentationFormat>Widescreen</PresentationFormat>
  <Paragraphs>167</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Calibri Light</vt:lpstr>
      <vt:lpstr>Calibri</vt:lpstr>
      <vt:lpstr>Microsoft YaHei</vt:lpstr>
      <vt:lpstr>Arial Unicode MS</vt:lpstr>
      <vt:lpstr>Broadway</vt:lpstr>
      <vt:lpstr>Berlin Sans FB Demi</vt:lpstr>
      <vt:lpstr>Wingdings</vt:lpstr>
      <vt:lpstr>Times New Roman</vt:lpstr>
      <vt:lpstr>Aldhabi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Automation and Scripting with Python</dc:title>
  <dc:creator/>
  <cp:lastModifiedBy>Shereen Ebrahiem</cp:lastModifiedBy>
  <cp:revision>1</cp:revision>
  <dcterms:created xsi:type="dcterms:W3CDTF">2025-02-28T21:25:24Z</dcterms:created>
  <dcterms:modified xsi:type="dcterms:W3CDTF">2025-02-28T21:25:24Z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9603E001EB354398B684F4057836D845_11</vt:lpwstr>
  </property>
  <property fmtid="{D5CDD505-2E9C-101B-9397-08002B2CF9AE}" pid="3" name="KSOProductBuildVer">
    <vt:lpwstr>1033-12.2.0.20323</vt:lpwstr>
  </property>
</Properties>
</file>