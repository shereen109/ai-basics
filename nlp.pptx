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78" r:id="rId13"/>
    <p:sldId id="267" r:id="rId14"/>
    <p:sldId id="279" r:id="rId15"/>
    <p:sldId id="280" r:id="rId16"/>
    <p:sldId id="281" r:id="rId17"/>
    <p:sldId id="282" r:id="rId18"/>
    <p:sldId id="283" r:id="rId19"/>
    <p:sldId id="285" r:id="rId20"/>
    <p:sldId id="284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Natural Language</a:t>
            </a:r>
            <a:br>
              <a:rPr lang="en-US" altLang="en-US" dirty="0"/>
            </a:br>
            <a:r>
              <a:rPr lang="en-US" altLang="en-US" dirty="0"/>
              <a:t>Processing (NLP)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What is NLP?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Natural Language Processing (NLP) is a field in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Artificial Intelligence (AI) devoted to creating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computers that use natural language as input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and/or output.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Why NLP?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To interact with computing devices using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human (natural) languages. For example, Building intelligent robots (AI).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Enabling voice-controlled operation.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 To access (large amount of) information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and knowledge stored in the form of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human languages quickly.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NLP Tasks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•NLP applications require several NLP analyses: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Word tokenization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Sentence boundary detection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Part-of-speech (POS) tagging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to identify the part-of-speech (e.g. noun, verb) of each word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Named Entity (NE) recognition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to identify proper nouns (e.g. names of person, location, organization;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domain terminologies)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Parsing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to identify the syntactic structure of a sentence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Semantic analysis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to derive the meaning of a sentence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Components of NLP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1. Computational Linguistics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2.Machine Learning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3. Artificial Intelligence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4. Computer Science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5. Speech Processing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Computational Linguistics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• Language is the object of study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Scientific disciplines like computational biology but they play only 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supporting role.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NLP focused on the design and analysis of computational algorithms and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representations for processing natural human language.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NLP provides new computational capabilities around human language:,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extracting information from texts, translating between languages,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answering questions and holding a conversation.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Machine Learning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•Contemporary approaches to NLP rely on machine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learning (build complex computer programs from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examples)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•Provides an array of general techniques for tasks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(translation, entity extraction,...)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•Much of today’s NLP research can be thought of as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applied machine learning.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Artificial Intelligence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• Build software and robots with the same range of abilities as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humans.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The capacity for language is one of the central features of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human intelligence (prerequisite for artificial intelligence)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AI premises </a:t>
            </a:r>
            <a:r>
              <a:rPr lang="en-US" altLang="en-US"/>
              <a:t>è</a:t>
            </a:r>
            <a:r>
              <a:rPr lang="en-US" altLang="en-US"/>
              <a:t> conclusion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NLP texts (conversations) </a:t>
            </a:r>
            <a:r>
              <a:rPr lang="en-US" altLang="en-US"/>
              <a:t>è</a:t>
            </a:r>
            <a:r>
              <a:rPr lang="en-US" altLang="en-US"/>
              <a:t> knowledge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Computer Science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/>
              <a:t>• Natural language (discrete and recursive) suitable for theoretical CS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Formal language theory can help to explain the syntax and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semantics of natural language.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Theoretical models (finite-state and pushdown automata) are the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basis for many practical NLP systems.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• Computer Systems (Large datasets of unlabeled text can be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processed more quickly by parallelization techniques like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MapReduce)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Speech Processing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1. Natural language is often communicated in spoken form, and</a:t>
            </a:r>
            <a:endParaRPr lang="en-US" altLang="en-US"/>
          </a:p>
          <a:p>
            <a:r>
              <a:rPr lang="en-US" altLang="en-US"/>
              <a:t>speech recognition is the task of converting an audio signal</a:t>
            </a:r>
            <a:endParaRPr lang="en-US" altLang="en-US"/>
          </a:p>
          <a:p>
            <a:r>
              <a:rPr lang="en-US" altLang="en-US"/>
              <a:t>to text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 Signal processing (preprocessing step)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3. Context plays a critical role in speech recognition by human</a:t>
            </a:r>
            <a:endParaRPr lang="en-US" altLang="en-US"/>
          </a:p>
          <a:p>
            <a:r>
              <a:rPr lang="en-US" altLang="en-US"/>
              <a:t>listeners: knowledge of the surrounding words influences</a:t>
            </a:r>
            <a:endParaRPr lang="en-US" altLang="en-US"/>
          </a:p>
          <a:p>
            <a:r>
              <a:rPr lang="en-US" altLang="en-US"/>
              <a:t>perception and helps to correct for noise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Natural Language Pre-processing (NLP)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Natural Language Processing (NLP) involves a series of pre-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processing steps to transform raw text data into a format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suitable for analysis or machine learning models. These steps help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improve the quality of the data and make it easier for algorithms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 understand and process the text. Below are the key pre-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processing steps used in NLP, along with explanations and example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code.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317500"/>
            <a:ext cx="10941050" cy="585978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1. Lowercasing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2. Tokenization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3. Removing Punctuation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4. Removing Stopwords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5. Stemming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6. Lemmatization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7. Removing Numbers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8. Removing Extra Spaces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9. Handling Contractions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10. Removing Special Characters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11. Part-of-Speech (POS) Tagging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/>
              <a:t>12. Named Entity Recognition (NER)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>
                <a:sym typeface="+mn-ea"/>
              </a:rPr>
              <a:t>13. Vectorization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>
                <a:sym typeface="+mn-ea"/>
              </a:rPr>
              <a:t>14. Handling Missing Data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>
                <a:sym typeface="+mn-ea"/>
              </a:rPr>
              <a:t>15. Normalization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600" b="1">
                <a:sym typeface="+mn-ea"/>
              </a:rPr>
              <a:t>16. Spelling Correction</a:t>
            </a:r>
            <a:endParaRPr lang="en-US" altLang="en-US" sz="1600" b="1"/>
          </a:p>
          <a:p>
            <a:pPr>
              <a:buFont typeface="Wingdings" panose="05000000000000000000" charset="0"/>
              <a:buChar char="Ø"/>
            </a:pPr>
            <a:endParaRPr lang="en-US" altLang="en-US" sz="16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30" y="311785"/>
            <a:ext cx="11088370" cy="5865495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17. Handling Emojis and Emoticons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18. Removing HTML Tags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19. Handling URLs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20. Handling Mentions and Hashtags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21. Sentence Segmentation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22. Handling Abbreviations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23. Language Detection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24. Text Encoding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25. Handling Whitespace Tokens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26. Handling Dates and Times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27. Text Augmentation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28. Handling Negations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29. Dependency Parsing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30. Handling Rare Words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31. Text Chunking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32. Handling Synonyms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 b="1"/>
              <a:t>33. Text Normalization for Social Media</a:t>
            </a:r>
            <a:endParaRPr lang="en-US" altLang="en-US" sz="1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sng">
                <a:sym typeface="+mn-ea"/>
              </a:rPr>
              <a:t>1. Lowercasing</a:t>
            </a:r>
            <a:endParaRPr 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 Purpose: Converts all text to lowercase to ensure uniformity.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 Why: Reduces the vocabulary size and avoids treating the same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word in different cases as different tokens (e.g., "Apple" vs. "apple").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>
                <a:solidFill>
                  <a:srgbClr val="FF0000"/>
                </a:solidFill>
              </a:rPr>
              <a:t>EX:</a:t>
            </a:r>
            <a:endParaRPr lang="en-US" alt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text = "Hello World! This is NLP."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text.lower()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0" y="4987925"/>
            <a:ext cx="6387465" cy="11893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974340" y="5480050"/>
            <a:ext cx="1616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u="sng">
                <a:solidFill>
                  <a:srgbClr val="FF0000"/>
                </a:solidFill>
              </a:rPr>
              <a:t>Output</a:t>
            </a:r>
            <a:endParaRPr lang="en-US" sz="2800" b="1" u="sng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>
            <a:stCxn id="5" idx="3"/>
          </p:cNvCxnSpPr>
          <p:nvPr/>
        </p:nvCxnSpPr>
        <p:spPr>
          <a:xfrm flipV="1">
            <a:off x="4591050" y="5523865"/>
            <a:ext cx="1167765" cy="217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2. Tokenization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Splits text into individual words, phrases, or sentences 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  (tokens).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Breaks down text into manageable units for further processing.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</a:t>
            </a: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import nltk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nltk.download('punkt_tab')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nltk.tokenize import word_tokenize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"Hello World! This is NLP."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= word_tokenize(text)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print(tokens)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6375" y="5687695"/>
            <a:ext cx="6905625" cy="8896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95700" y="6055360"/>
            <a:ext cx="1207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Output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501515" y="6055360"/>
            <a:ext cx="909320" cy="121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3. Removing Punctuation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Removes punctuation marks like commas, periods,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exclamation marks, etc.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Punctuation often doesn’t contribute to the meaning in many NLP tasks and can add noise.</a:t>
            </a:r>
            <a:endParaRPr lang="en-US" altLang="en-US"/>
          </a:p>
          <a:p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r>
              <a:rPr lang="en-US" altLang="en-US"/>
              <a:t>import string</a:t>
            </a:r>
            <a:endParaRPr lang="en-US" altLang="en-US"/>
          </a:p>
          <a:p>
            <a:r>
              <a:rPr lang="en-US" altLang="en-US"/>
              <a:t>text = "Hello, World! This is NLP."</a:t>
            </a:r>
            <a:endParaRPr lang="en-US" altLang="en-US"/>
          </a:p>
          <a:p>
            <a:r>
              <a:rPr lang="en-US" altLang="en-US"/>
              <a:t>text = text.translate(str.maketrans('', '', </a:t>
            </a:r>
            <a:endParaRPr lang="en-US" altLang="en-US"/>
          </a:p>
          <a:p>
            <a:r>
              <a:rPr lang="en-US" altLang="en-US"/>
              <a:t>string.punctuation))</a:t>
            </a:r>
            <a:endParaRPr lang="en-US" altLang="en-US"/>
          </a:p>
          <a:p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8415" y="5417185"/>
            <a:ext cx="4043680" cy="7600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782945" y="5988685"/>
            <a:ext cx="1355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>
                <a:solidFill>
                  <a:srgbClr val="FF0000"/>
                </a:solidFill>
              </a:rPr>
              <a:t>Output </a:t>
            </a:r>
            <a:endParaRPr lang="en-US" b="1" u="sng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690995" y="5866765"/>
            <a:ext cx="1056640" cy="307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olidFill>
                  <a:srgbClr val="FF0000"/>
                </a:solidFill>
              </a:rPr>
              <a:t>4. Removing Stopwords</a:t>
            </a:r>
            <a:endParaRPr lang="en-US" altLang="en-US" b="1" u="sng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Removes common words like "the," "is," "and," which don’t carry significant meaning.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Reduces noise and focuses on meaningful words.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nltk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Download the 'stopwords' dataset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nltk.download('stopwords')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nltk.corpus import stopwords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stop_words = set(stopwords.words('english'))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= ["this", "is", "a", "sample", "sentence"]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filtered_tokens = [word for word in tokens if word.lower() not in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stop_words]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print(filtered_tokens)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3975" y="5612130"/>
            <a:ext cx="3679190" cy="56451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6423025" y="5970905"/>
            <a:ext cx="1250950" cy="128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5500370" y="5970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>
                <a:solidFill>
                  <a:srgbClr val="FF0000"/>
                </a:solidFill>
              </a:rPr>
              <a:t>Output</a:t>
            </a:r>
            <a:endParaRPr lang="en-US" b="1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5. Stemming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Reduces words to their root form by chopping off suffixes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(e.g., "running" → "run").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Simplifies words to their base form, reducing vocabulary size.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from nltk.stem import PorterStemmer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stemmer = PorterStemmer()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words = ["running", "runner", "ran"]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stemmed_words = [stemmer.stem(word) for word in words]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print(stemmed_words)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120" y="5558790"/>
            <a:ext cx="4259580" cy="942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500370" y="5970905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>
                <a:solidFill>
                  <a:srgbClr val="FF0000"/>
                </a:solidFill>
              </a:rPr>
              <a:t>Output</a:t>
            </a:r>
            <a:endParaRPr lang="en-US" b="1" u="sng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393180" y="6010275"/>
            <a:ext cx="937895" cy="179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olidFill>
                  <a:srgbClr val="FF0000"/>
                </a:solidFill>
                <a:sym typeface="+mn-ea"/>
              </a:rPr>
              <a:t>6. Lemmatization</a:t>
            </a:r>
            <a:endParaRPr lang="en-US" altLang="en-US" b="1" u="sng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Converts words to their base or dictionary form (e.g.,  "better" → "good").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More accurate than stemming as it uses vocabulary and  morphological analysis.</a:t>
            </a:r>
            <a:endParaRPr lang="en-US" altLang="en-US"/>
          </a:p>
          <a:p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r>
              <a:rPr lang="en-US" altLang="en-US"/>
              <a:t>import nltk</a:t>
            </a:r>
            <a:endParaRPr lang="en-US" altLang="en-US"/>
          </a:p>
          <a:p>
            <a:r>
              <a:rPr lang="en-US" altLang="en-US"/>
              <a:t>nltk.download('wordnet')</a:t>
            </a:r>
            <a:endParaRPr lang="en-US" altLang="en-US"/>
          </a:p>
          <a:p>
            <a:r>
              <a:rPr lang="en-US" altLang="en-US"/>
              <a:t>from nltk.stem import WordNetLemmatizer</a:t>
            </a:r>
            <a:endParaRPr lang="en-US" altLang="en-US"/>
          </a:p>
          <a:p>
            <a:r>
              <a:rPr lang="en-US" altLang="en-US"/>
              <a:t>lemmatizer = WordNetLemmatizer()</a:t>
            </a:r>
            <a:endParaRPr lang="en-US" altLang="en-US"/>
          </a:p>
          <a:p>
            <a:r>
              <a:rPr lang="en-US" altLang="en-US"/>
              <a:t>words = ["running", "runner", "ran"]</a:t>
            </a:r>
            <a:endParaRPr lang="en-US" altLang="en-US"/>
          </a:p>
          <a:p>
            <a:r>
              <a:rPr lang="en-US" altLang="en-US"/>
              <a:t>lemmatized_words = [lemmatizer.lemmatize(word, pos='v') for word </a:t>
            </a:r>
            <a:endParaRPr lang="en-US" altLang="en-US"/>
          </a:p>
          <a:p>
            <a:r>
              <a:rPr lang="en-US" altLang="en-US"/>
              <a:t>in words]</a:t>
            </a:r>
            <a:endParaRPr lang="en-US" altLang="en-US"/>
          </a:p>
          <a:p>
            <a:r>
              <a:rPr lang="en-US" altLang="en-US"/>
              <a:t>print(lemmatized_words)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6245" y="5564505"/>
            <a:ext cx="3966210" cy="7448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887085" y="5941060"/>
            <a:ext cx="1176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u="sng">
                <a:solidFill>
                  <a:srgbClr val="FF0000"/>
                </a:solidFill>
              </a:rPr>
              <a:t>Output</a:t>
            </a:r>
            <a:endParaRPr lang="en-US" b="1" u="sng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824980" y="5998210"/>
            <a:ext cx="1176655" cy="161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7. Removing Numbers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Removes numeric values from the 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Numbers may not be relevant in certain NLP tasks like sentiment analysis.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"There are 3 apples and 5 oranges."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re.sub(r'\d+', '', 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7245" y="5306060"/>
            <a:ext cx="4001135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8. Removing Extra Spaces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Eliminates multiple spaces, tabs, or newlines.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Ensures clean and consistent text formatting.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r>
              <a:rPr lang="en-US" altLang="en-US"/>
              <a:t>text = " This is a sentence. "</a:t>
            </a:r>
            <a:endParaRPr lang="en-US" altLang="en-US"/>
          </a:p>
          <a:p>
            <a:r>
              <a:rPr lang="en-US" altLang="en-US"/>
              <a:t>text = ' '.join(text.split())</a:t>
            </a:r>
            <a:endParaRPr lang="en-US" altLang="en-US"/>
          </a:p>
          <a:p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1465" y="4824730"/>
            <a:ext cx="5010150" cy="11220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9. Handling Contractions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Expands contractions (e.g., "can't" → "cannot").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Standardizes text for better processing.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!pip install contractions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contractions import fix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"I can't do this."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fix(text)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735" y="5497830"/>
            <a:ext cx="6382385" cy="10839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800" b="1" u="sng">
                <a:solidFill>
                  <a:schemeClr val="tx1"/>
                </a:solidFill>
                <a:sym typeface="+mn-ea"/>
              </a:rPr>
              <a:t>10. Removing Special Characters</a:t>
            </a:r>
            <a:endParaRPr lang="en-US" altLang="en-US" sz="4800" b="1" u="sng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Removes non-alphanumeric characters like @, #, $, etc.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Reduces noise and irrelevant symbols.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"This is a #sample text with @special characters!"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re.sub(r'[^\w\s]', '', 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460" y="5325110"/>
            <a:ext cx="5387975" cy="8515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11. Part-of-Speech (POS) Tagging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Assigns grammatical tags to words (e.g., noun, verb, adjective).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Helps in understanding the syntactic structure of sentences.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nltk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nltk import pos_tag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nltk.tokenize import word_tokenize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Download the required resource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nltk.download('averaged_perceptron_tagger_eng')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= word_tokenize("This is a sample sentence.")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pos_tags = pos_tag(tokens)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print(pos_tags)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0" y="5730875"/>
            <a:ext cx="7959090" cy="6940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 b="1" u="sng">
                <a:sym typeface="+mn-ea"/>
              </a:rPr>
              <a:t>12. Named Entity Recognition (NER)</a:t>
            </a:r>
            <a:endParaRPr lang="en-US" alt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>
              <a:buFont typeface="Wingdings" panose="05000000000000000000" charset="0"/>
              <a:buChar char="q"/>
            </a:pPr>
            <a:r>
              <a:rPr lang="en-US" altLang="en-US" sz="1200"/>
              <a:t> Purpose: Identifies and classifies entities like names, dates, locations,  etc.</a:t>
            </a:r>
            <a:endParaRPr lang="en-US" altLang="en-US" sz="1200"/>
          </a:p>
          <a:p>
            <a:pPr>
              <a:buFont typeface="Wingdings" panose="05000000000000000000" charset="0"/>
              <a:buChar char="q"/>
            </a:pPr>
            <a:r>
              <a:rPr lang="en-US" altLang="en-US" sz="1200"/>
              <a:t> Why: Useful for tasks like information extraction.</a:t>
            </a:r>
            <a:endParaRPr lang="en-US" altLang="en-US" sz="1200"/>
          </a:p>
          <a:p>
            <a:pPr>
              <a:buFont typeface="Wingdings" panose="05000000000000000000" charset="0"/>
              <a:buChar char="q"/>
            </a:pPr>
            <a:r>
              <a:rPr lang="en-US" altLang="en-US" sz="1400" b="1">
                <a:solidFill>
                  <a:srgbClr val="FF0000"/>
                </a:solidFill>
              </a:rPr>
              <a:t>EX:</a:t>
            </a:r>
            <a:endParaRPr lang="en-US" altLang="en-US" sz="1400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1200"/>
              <a:t>import nltk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from nltk import pos_tag, ne_chunk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from nltk.tokenize import word_tokenize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# Download the required resources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nltk.download('words')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nltk.download('maxent_ne_chunker')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nltk.download('averaged_perceptron_tagger')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# Download the 'maxent_ne_chunker_tab' resource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nltk.download('maxent_ne_chunker_tab') # This line is crucial to fix 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the error.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tokens = word_tokenize("John works at Google in New York.")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pos_tags = pos_tag(tokens)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ner_tags = ne_chunk(pos_tags)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print(ner_tags)</a:t>
            </a:r>
            <a:endParaRPr lang="en-US" altLang="en-US" sz="1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8095" y="2671445"/>
            <a:ext cx="4466590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13. Vectorization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Purpose: Converts text into numerical vectors (e.g., Bag of Words,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TF-IDF, Word Embeddings).</a:t>
            </a:r>
            <a:endParaRPr lang="en-US" altLang="en-US"/>
          </a:p>
          <a:p>
            <a:r>
              <a:rPr lang="en-US" altLang="en-US"/>
              <a:t>Why: Machine learning models require numerical input.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0455" y="3623628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>
                <a:solidFill>
                  <a:srgbClr val="AF00DB"/>
                </a:solidFill>
                <a:latin typeface="Arial Black" panose="020B0A04020102020204"/>
                <a:ea typeface="Arial Black" panose="020B0A04020102020204"/>
              </a:rPr>
              <a:t>from </a:t>
            </a:r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sklearn.feature_extraction.text </a:t>
            </a:r>
            <a:r>
              <a:rPr sz="1600" b="1">
                <a:solidFill>
                  <a:srgbClr val="AF00DB"/>
                </a:solidFill>
                <a:latin typeface="Arial Black" panose="020B0A04020102020204"/>
                <a:ea typeface="Arial Black" panose="020B0A04020102020204"/>
              </a:rPr>
              <a:t>import </a:t>
            </a:r>
            <a:endParaRPr sz="1600" b="1">
              <a:solidFill>
                <a:srgbClr val="AF00DB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CountVectorizer </a:t>
            </a:r>
            <a:endParaRPr sz="1600" b="1">
              <a:solidFill>
                <a:srgbClr val="000000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corpus = [</a:t>
            </a:r>
            <a:r>
              <a:rPr sz="1600" b="1">
                <a:solidFill>
                  <a:srgbClr val="A31515"/>
                </a:solidFill>
                <a:latin typeface="Arial Black" panose="020B0A04020102020204"/>
                <a:ea typeface="Arial Black" panose="020B0A04020102020204"/>
              </a:rPr>
              <a:t>"This is a sample sentence."</a:t>
            </a:r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, </a:t>
            </a:r>
            <a:r>
              <a:rPr sz="1600" b="1">
                <a:solidFill>
                  <a:srgbClr val="A31515"/>
                </a:solidFill>
                <a:latin typeface="Arial Black" panose="020B0A04020102020204"/>
                <a:ea typeface="Arial Black" panose="020B0A04020102020204"/>
              </a:rPr>
              <a:t>"Another example </a:t>
            </a:r>
            <a:endParaRPr sz="1600" b="1">
              <a:solidFill>
                <a:srgbClr val="A31515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A31515"/>
                </a:solidFill>
                <a:latin typeface="Arial Black" panose="020B0A04020102020204"/>
                <a:ea typeface="Arial Black" panose="020B0A04020102020204"/>
              </a:rPr>
              <a:t>sentence."</a:t>
            </a:r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] </a:t>
            </a:r>
            <a:endParaRPr sz="1600" b="1">
              <a:solidFill>
                <a:srgbClr val="000000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vectorizer = CountVectorizer() </a:t>
            </a:r>
            <a:endParaRPr sz="1600" b="1">
              <a:solidFill>
                <a:srgbClr val="000000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X = vectorizer.fit_transform(corpus) </a:t>
            </a:r>
            <a:endParaRPr sz="1600" b="1">
              <a:solidFill>
                <a:srgbClr val="000000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795E26"/>
                </a:solidFill>
                <a:latin typeface="Arial Black" panose="020B0A04020102020204"/>
                <a:ea typeface="Arial Black" panose="020B0A04020102020204"/>
              </a:rPr>
              <a:t>print</a:t>
            </a:r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(X.toarray()) </a:t>
            </a:r>
            <a:r>
              <a:rPr sz="1600" b="1">
                <a:solidFill>
                  <a:srgbClr val="008000"/>
                </a:solidFill>
                <a:latin typeface="Arial Black" panose="020B0A04020102020204"/>
                <a:ea typeface="Arial Black" panose="020B0A04020102020204"/>
              </a:rPr>
              <a:t># Output: [[1 1 1 1 0], [0 1 1 0 1]] </a:t>
            </a:r>
            <a:endParaRPr sz="1600" b="1">
              <a:solidFill>
                <a:srgbClr val="008000"/>
              </a:solidFill>
              <a:latin typeface="Arial Black" panose="020B0A04020102020204"/>
              <a:ea typeface="Arial Black" panose="020B0A04020102020204"/>
            </a:endParaRPr>
          </a:p>
          <a:p>
            <a:r>
              <a:rPr sz="1600" b="1">
                <a:solidFill>
                  <a:srgbClr val="795E26"/>
                </a:solidFill>
                <a:latin typeface="Arial Black" panose="020B0A04020102020204"/>
                <a:ea typeface="Arial Black" panose="020B0A04020102020204"/>
              </a:rPr>
              <a:t>print</a:t>
            </a:r>
            <a:r>
              <a:rPr sz="1600" b="1">
                <a:solidFill>
                  <a:srgbClr val="000000"/>
                </a:solidFill>
                <a:latin typeface="Arial Black" panose="020B0A04020102020204"/>
                <a:ea typeface="Arial Black" panose="020B0A04020102020204"/>
              </a:rPr>
              <a:t>(vectorizer.get_feature_names_out()</a:t>
            </a:r>
            <a:endParaRPr sz="1600" b="1">
              <a:solidFill>
                <a:srgbClr val="000000"/>
              </a:solidFill>
              <a:latin typeface="Arial Black" panose="020B0A04020102020204"/>
              <a:ea typeface="Arial Black" panose="020B0A040201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0" y="4697730"/>
            <a:ext cx="4946015" cy="10775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14. Handling Missing Data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Fills or removes missing or incomplete text data.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Ensures the dataset is complete and consistent</a:t>
            </a:r>
            <a:endParaRPr lang="en-US" altLang="en-US"/>
          </a:p>
          <a:p>
            <a:pPr marL="0" indent="0">
              <a:buNone/>
            </a:pPr>
            <a:r>
              <a:rPr lang="en-US" altLang="en-US" b="1" u="sng">
                <a:solidFill>
                  <a:srgbClr val="FF0000"/>
                </a:solidFill>
              </a:rPr>
              <a:t>0</a:t>
            </a:r>
            <a:r>
              <a:rPr lang="en-US" altLang="en-US"/>
              <a:t>import pandas as pd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data = {"text": ["Hello", None, "World"]}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df = pd.DataFrame(data)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df["text"].fillna("My Dear", inplace=True) # Fill missing values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print(df)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9455" y="3317240"/>
            <a:ext cx="1967865" cy="16071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4800" b="1" u="sng">
                <a:sym typeface="+mn-ea"/>
              </a:rPr>
              <a:t>15. Normalization</a:t>
            </a:r>
            <a:endParaRPr lang="en-US" altLang="en-US" sz="4800" b="1" u="sng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Standardizes text (e.g., converting all dates to a single 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  format).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Ensures consistency in the dataset.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unicodedata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"Café"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unicodedata.normalize('NFKD', text).encode('ascii',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'ignore').decode('utf-8')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8515" y="5062855"/>
            <a:ext cx="1525905" cy="904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u="sng">
                <a:sym typeface="+mn-ea"/>
              </a:rPr>
              <a:t>16. Spelling Correction</a:t>
            </a:r>
            <a:endParaRPr lang="en-US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Corrects spelling errors in the 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Improves the quality of the text for analysis.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from textblob import TextBlob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"I made a many mistakes in Artificial intellengence"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blob = TextBlob(text)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corrected_text = blob.correct()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print(corrected_text)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5568315"/>
            <a:ext cx="6019800" cy="9290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 Handling Emojis and Emoticons</a:t>
            </a:r>
            <a:endParaRPr lang="en-US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Converts emojis and emoticons into text or removes them.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Emojis can carry sentiment or meaning that needs to be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captured.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!pip install emoji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import emoji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"I love Python! ?"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Convert emojis to text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emoji.demojize(text)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 # Output: "I love Python!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:smiling_face_with_smiling_eyes:"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# Remove emojis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emoji.replace_emoji(text, replace="")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600" y="4013835"/>
            <a:ext cx="6575425" cy="18065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18. Removing HTML Tags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Removes HTML tags from web scraped 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HTML tags are irrelevant for most NLP tasks.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from bs4 import BeautifulSoup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"&lt;p&gt;This is a &lt;b&gt;sample&lt;/b&gt; text.&lt;/p&gt;"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soup = BeautifulSoup(text, "html.parser")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clean_text = soup.get_text()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print(clean_text)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105" y="5022850"/>
            <a:ext cx="3825240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19. Handling URLs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Removes or replaces URLs in the 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URLs are often irrelevant for text analysis.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"Visit my website at https://example.com."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re.sub(r'http\S+|www\S+|https\S+', '', text,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flags=re.MULTILINE)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1625" y="5215255"/>
            <a:ext cx="5252085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20. Handling Mentions and Hashtags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 </a:t>
            </a:r>
            <a:r>
              <a:rPr lang="en-US" altLang="en-US" b="1"/>
              <a:t>Purpose: Processes or removes social media mentions (@user) and </a:t>
            </a:r>
            <a:endParaRPr lang="en-US" altLang="en-US" b="1"/>
          </a:p>
          <a:p>
            <a:pPr>
              <a:buFont typeface="Wingdings" panose="05000000000000000000" charset="0"/>
              <a:buChar char="q"/>
            </a:pPr>
            <a:r>
              <a:rPr lang="en-US" altLang="en-US" b="1"/>
              <a:t>  hashtags (#topic).</a:t>
            </a:r>
            <a:endParaRPr lang="en-US" altLang="en-US" b="1"/>
          </a:p>
          <a:p>
            <a:pPr>
              <a:buFont typeface="Wingdings" panose="05000000000000000000" charset="0"/>
              <a:buChar char="q"/>
            </a:pPr>
            <a:r>
              <a:rPr lang="en-US" altLang="en-US" b="1"/>
              <a:t> Why: Useful for social media text analysis.</a:t>
            </a:r>
            <a:endParaRPr lang="en-US" altLang="en-US" b="1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text = "Hey @user, check out #NLP!"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re.sub(r'@\w+|#\w+', '', 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0" y="5309870"/>
            <a:ext cx="4573270" cy="8674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21. Sentence Segmentation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Splits text into individual sentences.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Important for tasks like machine translation or summarization.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from nltk.tokenize import sent_tokenize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"This is the first sentence. This is the second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sentence."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sentences = sent_tokenize(text)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print(sentences)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2220" y="5269230"/>
            <a:ext cx="6544310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22. Handling Abbreviations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Expands abbreviations (e.g., "ASAP" → "as soon as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possible").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Ensures clarity and consistency.</a:t>
            </a:r>
            <a:endParaRPr lang="en-US" altLang="en-US"/>
          </a:p>
          <a:p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!pip install contractions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import contractions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"I'll be there ASAP."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expanded_text = contractions.fix(text)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print(expanded_text)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2275" y="5628005"/>
            <a:ext cx="5032375" cy="7277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23. Language Detection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Identifies the language of the 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Ensures the correct NLP model is applied.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!pip install langdetect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langdetect import detect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"Ceci est un texte en fran</a:t>
            </a:r>
            <a:r>
              <a:rPr lang="" altLang="en-US"/>
              <a:t>ç</a:t>
            </a:r>
            <a:r>
              <a:rPr lang="en-US" altLang="en-US"/>
              <a:t>ais."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language = detect(text)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print(language)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315" y="5140960"/>
            <a:ext cx="1720215" cy="892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24. Text Encoding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Purpose: Converts text into a specific encoding format (e.g., UTF-8).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Why: Ensures compatibility with NLP tools and models.</a:t>
            </a:r>
            <a:endParaRPr lang="en-US" altLang="en-US"/>
          </a:p>
          <a:p>
            <a:pPr marL="0" indent="0">
              <a:buNone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text = "Café"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text.encode('utf-8').decode('utf-8')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6350" y="5059045"/>
            <a:ext cx="1816100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25. Handling Whitespace Tokens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Removes or processes tokens that are just spaces or empty 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strings.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Ensures clean and meaningful tokens.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tokens = ["This", " ", "is", " ", "a", " ", "sample", " "]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= [token for token in tokens if token.strip()]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print(tokens)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5635" y="5332095"/>
            <a:ext cx="4368165" cy="8458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26. Handling Dates and Times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Standardizes or extracts date and time formats.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Useful for time-sensitive analysis.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import dateutil.parser as dparser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"The event is on 2023-10-15."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date = dparser.parse(text, fuzzy=True)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print(date)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0" y="5102860"/>
            <a:ext cx="3417570" cy="9378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27. Text Augmentation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 Purpose: Generates additional training data by modifying existing text 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  (e.g., synonym replacement).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Improves model robustness and performance.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#!pip install nlpaug # Install the nlpaug library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from nlpaug.augmenter.word import SynonymAug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aug = SynonymAug(aug_src='wordnet')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"This is a sample text."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augmented_text = aug.augment(text)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print(augmented_text)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0750" y="5166995"/>
            <a:ext cx="4588510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 u="sng">
                <a:sym typeface="+mn-ea"/>
              </a:rPr>
              <a:t>28. Handling Negations</a:t>
            </a:r>
            <a:endParaRPr lang="en-US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  <a:buChar char="q"/>
            </a:pPr>
            <a:r>
              <a:rPr lang="en-US" altLang="en-US"/>
              <a:t>Purpose: Identifies and processes negations (e.g., "not good").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Important for sentiment analysis and understanding context.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 b="1" u="sng">
                <a:solidFill>
                  <a:srgbClr val="FF0000"/>
                </a:solidFill>
              </a:rPr>
              <a:t>EX:</a:t>
            </a:r>
            <a:endParaRPr lang="en-US" altLang="en-US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/>
              <a:t>from nltk import word_tokenize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 = "This is not good."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 = word_tokenize(text)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i, token in enumerate(tokens):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if token == "not" and i + 1 &lt; len(tokens):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tokens[i + 1] = "not_" + tokens[i + 1]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print(tokens)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4330" y="4264660"/>
            <a:ext cx="5133340" cy="76898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en-US" b="1" u="sng">
                <a:sym typeface="+mn-ea"/>
              </a:rPr>
              <a:t>Most Important Pre-processing Steps for NLP</a:t>
            </a:r>
            <a:endParaRPr lang="en-US" altLang="en-US" b="1" u="sng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en-US" altLang="en-US" b="1" u="sng"/>
              <a:t>1. Tokenization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Tokenization is the foundation of NLP. It breaks text into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meaningful units (words, sentences, etc.), which are necessary for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any further processing.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When: Always required, regardless of the task.</a:t>
            </a:r>
            <a:endParaRPr lang="en-US" altLang="en-US"/>
          </a:p>
          <a:p>
            <a:r>
              <a:rPr lang="en-US" altLang="en-US" b="1" u="sng"/>
              <a:t>2. Lowercasing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Ensures consistency by treating words like "Apple" and "apple"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as the same. Reduces vocabulary size and computational complexity.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When: Important for tasks like text classification, sentiment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analysis, and information retrieval.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5945"/>
            <a:ext cx="10515600" cy="5601335"/>
          </a:xfrm>
        </p:spPr>
        <p:txBody>
          <a:bodyPr>
            <a:normAutofit lnSpcReduction="20000"/>
          </a:bodyPr>
          <a:p>
            <a:r>
              <a:rPr lang="en-US" altLang="en-US" b="1" u="sng"/>
              <a:t>3. Removing Stopwords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Stopwords (e.g., "the," "is," "and") add noise and don’t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contribute much to the meaning in many tasks.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When: Useful for tasks like text classification, topic modeling, and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search engines.</a:t>
            </a:r>
            <a:endParaRPr lang="en-US" altLang="en-US"/>
          </a:p>
          <a:p>
            <a:r>
              <a:rPr lang="en-US" altLang="en-US" b="1" u="sng"/>
              <a:t>4. Handling Missing Data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Incomplete or missing data can lead to poor model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performance.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When: Critical for all tasks, especially when working with real-world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datasets.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60" y="396875"/>
            <a:ext cx="10515600" cy="5824855"/>
          </a:xfrm>
        </p:spPr>
        <p:txBody>
          <a:bodyPr/>
          <a:p>
            <a:r>
              <a:rPr lang="en-US" altLang="en-US" b="1" u="sng"/>
              <a:t>5. Vectorization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Converts text into numerical representations (e.g., Bag of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Words, TF-IDF, Word Embeddings) that machine learning models  can process.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When: Essential for all tasks involving machine learning or deep learning models.</a:t>
            </a:r>
            <a:endParaRPr lang="en-US" altLang="en-US"/>
          </a:p>
          <a:p>
            <a:r>
              <a:rPr lang="en-US" altLang="en-US" b="1" u="sng"/>
              <a:t>6. Removing Punctuation and Special Characters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Punctuation and special characters often don’t contribute to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the meaning and can add noise.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 When: Important for tasks like sentiment analysis, text classification, and machine translation.</a:t>
            </a: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805" y="338455"/>
            <a:ext cx="10500995" cy="58388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b="1" u="sng"/>
              <a:t>7. Lemmatization or Stemming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Reduces words to their base forms, simplifying the vocabulary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and improving consistency.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 When: Useful for tasks like information retrieval, text classification, and topic modeling.</a:t>
            </a:r>
            <a:endParaRPr lang="en-US" altLang="en-US"/>
          </a:p>
          <a:p>
            <a:pPr marL="0" indent="0">
              <a:buNone/>
            </a:pPr>
            <a:r>
              <a:rPr lang="en-US" altLang="en-US" b="1" u="sng"/>
              <a:t>8. Handling Contractions and Abbreviations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Expands contractions (e.g., "can't" → "cannot") and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abbreviations (e.g., "ASAP" → "as soon as possible") for better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understanding.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When: Important for tasks involving informal text (e.g., social media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analysis).</a:t>
            </a: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015" y="494030"/>
            <a:ext cx="10471785" cy="586930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9.</a:t>
            </a:r>
            <a:r>
              <a:rPr lang="en-US" altLang="en-US" b="1" u="sng"/>
              <a:t> Handling URLs, Mentions, and Hashtags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Why: Social media text often contains URLs, mentions (@user), and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hashtags (#topic), which need to be processed or removed.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When: Critical for social media text analysis.</a:t>
            </a:r>
            <a:endParaRPr lang="en-US" altLang="en-US"/>
          </a:p>
          <a:p>
            <a:pPr marL="0" indent="0">
              <a:buNone/>
            </a:pPr>
            <a:r>
              <a:rPr lang="en-US" altLang="en-US" b="1" u="sng"/>
              <a:t>10. Text Normalization</a:t>
            </a:r>
            <a:endParaRPr lang="en-US" altLang="en-US" b="1" u="sng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 Why: Standardizes text (e.g., converting dates, times, and numbers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to a consistent format).</a:t>
            </a:r>
            <a:endParaRPr lang="en-US" altLang="en-US"/>
          </a:p>
          <a:p>
            <a:pPr>
              <a:buFont typeface="Wingdings" panose="05000000000000000000" charset="0"/>
              <a:buChar char="q"/>
            </a:pPr>
            <a:r>
              <a:rPr lang="en-US" altLang="en-US"/>
              <a:t>When: Important for tasks involving structured data or time_x0002_sensitive analysis.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15192</Words>
  <Application>WPS Presentation</Application>
  <PresentationFormat>Widescreen</PresentationFormat>
  <Paragraphs>554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Wingdings</vt:lpstr>
      <vt:lpstr>Arial Black</vt:lpstr>
      <vt:lpstr>Office Theme</vt:lpstr>
      <vt:lpstr>Natural Language Processing (NLP)</vt:lpstr>
      <vt:lpstr>What is NLP?</vt:lpstr>
      <vt:lpstr>Why NLP?</vt:lpstr>
      <vt:lpstr>NLP Tasks</vt:lpstr>
      <vt:lpstr>Components of NLP</vt:lpstr>
      <vt:lpstr>Computational Linguistics</vt:lpstr>
      <vt:lpstr>Machine Learning</vt:lpstr>
      <vt:lpstr>Artificial Intelligence</vt:lpstr>
      <vt:lpstr>Computer Science</vt:lpstr>
      <vt:lpstr>Speech Processing</vt:lpstr>
      <vt:lpstr>Natural Language Pre-processing (NLP)</vt:lpstr>
      <vt:lpstr>PowerPoint 演示文稿</vt:lpstr>
      <vt:lpstr>PowerPoint 演示文稿</vt:lpstr>
      <vt:lpstr>1. Lowercasing</vt:lpstr>
      <vt:lpstr>2. Tokenization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(NLP)</dc:title>
  <dc:creator/>
  <cp:lastModifiedBy>Shereen Ebrahiem</cp:lastModifiedBy>
  <cp:revision>7</cp:revision>
  <dcterms:created xsi:type="dcterms:W3CDTF">2025-02-22T16:58:00Z</dcterms:created>
  <dcterms:modified xsi:type="dcterms:W3CDTF">2025-02-26T22:35:49Z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3E8485A3FC9B4F32B58A3FD483DC5FE2_13</vt:lpwstr>
  </property>
  <property fmtid="{D5CDD505-2E9C-101B-9397-08002B2CF9AE}" pid="3" name="KSOProductBuildVer">
    <vt:lpwstr>1033-12.2.0.20323</vt:lpwstr>
  </property>
</Properties>
</file>